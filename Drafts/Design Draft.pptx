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notesMasterIdLst>
    <p:notesMasterId r:id="rId8"/>
  </p:notesMasterIdLst>
  <p:sldIdLst>
    <p:sldId id="256" r:id="rId2"/>
    <p:sldId id="260" r:id="rId3"/>
    <p:sldId id="257" r:id="rId4"/>
    <p:sldId id="258" r:id="rId5"/>
    <p:sldId id="259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04"/>
    <p:restoredTop sz="94692"/>
  </p:normalViewPr>
  <p:slideViewPr>
    <p:cSldViewPr snapToGrid="0">
      <p:cViewPr>
        <p:scale>
          <a:sx n="110" d="100"/>
          <a:sy n="110" d="100"/>
        </p:scale>
        <p:origin x="44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146174-E007-4443-AA94-7AEBB96592B4}" type="datetimeFigureOut">
              <a:rPr kumimoji="1" lang="zh-CN" altLang="en-US" smtClean="0"/>
              <a:t>2026/4/23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7C5D3-9599-C14E-9FB9-F6E331DD55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1843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999777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5501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23048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9796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9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2507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518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135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211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6515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6433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5968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869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8921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49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>
            <a:off x="345486" y="2133920"/>
            <a:ext cx="4093812" cy="20357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DB9CA48A-455E-EAA4-A5E3-A646AC47B8F4}"/>
              </a:ext>
            </a:extLst>
          </p:cNvPr>
          <p:cNvSpPr txBox="1"/>
          <p:nvPr/>
        </p:nvSpPr>
        <p:spPr>
          <a:xfrm>
            <a:off x="606903" y="2133920"/>
            <a:ext cx="1410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Key Priorities</a:t>
            </a:r>
            <a:endParaRPr kumimoji="1" lang="zh-CN" altLang="en-US" sz="16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84108D-D9E5-2FFA-EABB-0B4A6E95160C}"/>
              </a:ext>
            </a:extLst>
          </p:cNvPr>
          <p:cNvSpPr txBox="1"/>
          <p:nvPr/>
        </p:nvSpPr>
        <p:spPr>
          <a:xfrm>
            <a:off x="244988" y="92571"/>
            <a:ext cx="1006393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Executive Summary: Drive Fruit Co. growth through store expansion, supply chain optimization, product diversification, and improved purchasing experience (Aptos Narrow, Bold, 20pt)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>
            <a:off x="345489" y="1076700"/>
            <a:ext cx="2012699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>
            <a:off x="345488" y="1356860"/>
            <a:ext cx="11501023" cy="6125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Restructure merchant projects to stabilize cash flows while expanding EE’s global BESS network in high-return markets. Convert German standalone tolling projects to drive equity growth. Portfolio equity allocations optimized via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 </a:t>
            </a:r>
            <a:r>
              <a:rPr kumimoji="1" lang="en-US" altLang="zh-CN" sz="1400" dirty="0">
                <a:solidFill>
                  <a:schemeClr val="tx1"/>
                </a:solidFill>
              </a:rPr>
              <a:t>(Aptos, Regular, 14pt)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flipV="1">
            <a:off x="6714917" y="3579095"/>
            <a:ext cx="0" cy="265626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>
            <a:off x="6714917" y="3579095"/>
            <a:ext cx="1140643" cy="0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46B1B25C-4B10-DFA5-113C-8B8F249419B4}"/>
              </a:ext>
            </a:extLst>
          </p:cNvPr>
          <p:cNvSpPr txBox="1"/>
          <p:nvPr/>
        </p:nvSpPr>
        <p:spPr>
          <a:xfrm>
            <a:off x="7960311" y="3406744"/>
            <a:ext cx="24510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600" b="1" dirty="0">
                <a:solidFill>
                  <a:schemeClr val="tx2"/>
                </a:solidFill>
              </a:rPr>
              <a:t>Lithuania – €37.1Mn Y1 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D990F21-74EB-8B63-9610-E9B956354BE9}"/>
              </a:ext>
            </a:extLst>
          </p:cNvPr>
          <p:cNvSpPr txBox="1"/>
          <p:nvPr/>
        </p:nvSpPr>
        <p:spPr>
          <a:xfrm>
            <a:off x="7960311" y="3706953"/>
            <a:ext cx="38861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Adopt short development cycles to keep pace with rapidly evolving battery tech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Slash costs with 30% CAPEX grants</a:t>
            </a:r>
            <a:endParaRPr kumimoji="1" lang="zh-CN" altLang="en-US" sz="1400" dirty="0"/>
          </a:p>
        </p:txBody>
      </p:sp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图形 60">
            <a:extLst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B90A9678-3626-3D04-0741-C4A91C87FC69}"/>
              </a:ext>
            </a:extLst>
          </p:cNvPr>
          <p:cNvSpPr/>
          <p:nvPr/>
        </p:nvSpPr>
        <p:spPr>
          <a:xfrm>
            <a:off x="345486" y="4614895"/>
            <a:ext cx="4093812" cy="169446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A45F7AD-496A-66BB-C4E3-0CA4FF918069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>
            <a:off x="345485" y="4332458"/>
            <a:ext cx="4093811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 (Aptos, Bold, 16pt)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1C5D88F-A049-9DE9-9395-9B6691D6E825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>
            <a:off x="345486" y="2161979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/>
          </p:cNvCxnSpPr>
          <p:nvPr/>
        </p:nvCxnSpPr>
        <p:spPr>
          <a:xfrm>
            <a:off x="345486" y="2444416"/>
            <a:ext cx="409381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>
            <a:off x="5137950" y="4993701"/>
            <a:ext cx="6708559" cy="885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Recommend raising ex-factory prices by CN¥0.25–0.30 per bottle for Genki Forest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Retail prices could rise CN¥0.30–0.50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Implementation risks and mitigations identified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17810EC-0260-F8DA-5AAE-82784865A6B5}"/>
              </a:ext>
            </a:extLst>
          </p:cNvPr>
          <p:cNvSpPr txBox="1"/>
          <p:nvPr/>
        </p:nvSpPr>
        <p:spPr>
          <a:xfrm>
            <a:off x="5401327" y="4445617"/>
            <a:ext cx="57123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Existing customers show relatively lower price sensitivity</a:t>
            </a:r>
            <a:endParaRPr kumimoji="1" lang="zh-CN" altLang="en-US" sz="1600" b="1" dirty="0"/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>
            <a:off x="5139910" y="4473676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/>
          </p:cNvCxnSpPr>
          <p:nvPr/>
        </p:nvCxnSpPr>
        <p:spPr>
          <a:xfrm>
            <a:off x="5139910" y="4756113"/>
            <a:ext cx="67085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>
            <a:off x="345486" y="2472474"/>
            <a:ext cx="4093812" cy="16944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D87E5DB-4BA9-9EE5-E538-E0378538C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8625"/>
              </p:ext>
            </p:extLst>
          </p:nvPr>
        </p:nvGraphicFramePr>
        <p:xfrm>
          <a:off x="5137949" y="2133920"/>
          <a:ext cx="6708560" cy="11716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tableStyleId>{5C22544A-7EE6-4342-B048-85BDC9FD1C3A}</a:tableStyleId>
              </a:tblPr>
              <a:tblGrid>
                <a:gridCol w="1677140">
                  <a:extLst>
                    <a:ext uri="{9D8B030D-6E8A-4147-A177-3AD203B41FA5}">
                      <a16:colId xmlns:a16="http://schemas.microsoft.com/office/drawing/2014/main" val="4112203043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31620956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1434327199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1262303234"/>
                    </a:ext>
                  </a:extLst>
                </a:gridCol>
              </a:tblGrid>
              <a:tr h="32550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Year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Mkt Size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Fut Mkt Size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Item 4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864886"/>
                  </a:ext>
                </a:extLst>
              </a:tr>
              <a:tr h="41817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2020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$61Bn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997956"/>
                  </a:ext>
                </a:extLst>
              </a:tr>
              <a:tr h="41817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2030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$115Bn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77873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770E8D-EE3D-A25B-566B-B9DA86A410EA}"/>
              </a:ext>
            </a:extLst>
          </p:cNvPr>
          <p:cNvSpPr txBox="1"/>
          <p:nvPr/>
        </p:nvSpPr>
        <p:spPr>
          <a:xfrm>
            <a:off x="274320" y="685041"/>
            <a:ext cx="685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dirty="0">
                <a:solidFill>
                  <a:srgbClr val="CCCCCC"/>
                </a:solidFill>
              </a:rPr>
              <a:t>Fast-paced implementation is supported by strong existing operational capacity in chosen markets</a:t>
            </a:r>
          </a:p>
        </p:txBody>
      </p:sp>
    </p:spTree>
    <p:extLst>
      <p:ext uri="{BB962C8B-B14F-4D97-AF65-F5344CB8AC3E}">
        <p14:creationId xmlns:p14="http://schemas.microsoft.com/office/powerpoint/2010/main" val="462414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44BAB7D2-5269-E0B2-1A7F-AC2AEE973D8F}"/>
              </a:ext>
            </a:extLst>
          </p:cNvPr>
          <p:cNvSpPr/>
          <p:nvPr/>
        </p:nvSpPr>
        <p:spPr>
          <a:xfrm>
            <a:off x="5376256" y="4247999"/>
            <a:ext cx="6470253" cy="14097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dirty="0">
                <a:solidFill>
                  <a:schemeClr val="tx1"/>
                </a:solidFill>
              </a:rPr>
              <a:t>Yada pension actively fulfills its social responsibility and pays attention to social welfare and elderly’s health security. Yada should implement strategies to reach a broader population and meet diverse needs.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90F5CD-2D12-B0EA-A28D-DFA77A11A421}"/>
              </a:ext>
            </a:extLst>
          </p:cNvPr>
          <p:cNvSpPr/>
          <p:nvPr/>
        </p:nvSpPr>
        <p:spPr>
          <a:xfrm>
            <a:off x="5376255" y="1704826"/>
            <a:ext cx="3480306" cy="22804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</a:rPr>
              <a:t>Customer Segmentation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Shanghai, the Pilot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Private Service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Intelligent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Mid-class Living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Normal Community Service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6E184D-B6AF-A51F-DD1D-8814D2A75483}"/>
              </a:ext>
            </a:extLst>
          </p:cNvPr>
          <p:cNvSpPr txBox="1"/>
          <p:nvPr/>
        </p:nvSpPr>
        <p:spPr>
          <a:xfrm>
            <a:off x="244988" y="92571"/>
            <a:ext cx="1006393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Summary: Yada’s development strategy in China incorporates multi-level senior care patterns and more customized services</a:t>
            </a:r>
          </a:p>
        </p:txBody>
      </p:sp>
      <p:cxnSp>
        <p:nvCxnSpPr>
          <p:cNvPr id="7" name="直线连接符 6">
            <a:extLst>
              <a:ext uri="{FF2B5EF4-FFF2-40B4-BE49-F238E27FC236}">
                <a16:creationId xmlns:a16="http://schemas.microsoft.com/office/drawing/2014/main" id="{1C2E6875-BDC9-7937-44EE-CED172999E2A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CF8E0F5-53A8-78A4-5C93-7B8BDAE3B77D}"/>
              </a:ext>
            </a:extLst>
          </p:cNvPr>
          <p:cNvSpPr txBox="1"/>
          <p:nvPr/>
        </p:nvSpPr>
        <p:spPr>
          <a:xfrm>
            <a:off x="2003918" y="1101671"/>
            <a:ext cx="995081" cy="400110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2000" b="1" dirty="0"/>
              <a:t>Market</a:t>
            </a:r>
            <a:endParaRPr kumimoji="1" lang="zh-CN" altLang="en-US" sz="2000" b="1" dirty="0"/>
          </a:p>
        </p:txBody>
      </p: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49C69077-E220-8815-E6AA-EECB2FB396C5}"/>
              </a:ext>
            </a:extLst>
          </p:cNvPr>
          <p:cNvCxnSpPr>
            <a:cxnSpLocks/>
          </p:cNvCxnSpPr>
          <p:nvPr/>
        </p:nvCxnSpPr>
        <p:spPr>
          <a:xfrm>
            <a:off x="2008094" y="1501781"/>
            <a:ext cx="3122706" cy="0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E19E487E-B744-D685-6A08-5C74C1118186}"/>
              </a:ext>
            </a:extLst>
          </p:cNvPr>
          <p:cNvSpPr/>
          <p:nvPr/>
        </p:nvSpPr>
        <p:spPr>
          <a:xfrm>
            <a:off x="345486" y="1704815"/>
            <a:ext cx="1412976" cy="2280448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Analysis</a:t>
            </a:r>
          </a:p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Dimensions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D132D706-B860-FDDC-BFBA-AFB8F7DDF495}"/>
              </a:ext>
            </a:extLst>
          </p:cNvPr>
          <p:cNvSpPr/>
          <p:nvPr/>
        </p:nvSpPr>
        <p:spPr>
          <a:xfrm>
            <a:off x="345486" y="4248001"/>
            <a:ext cx="1412976" cy="140978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Implications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cxnSp>
        <p:nvCxnSpPr>
          <p:cNvPr id="18" name="直线连接符 17">
            <a:extLst>
              <a:ext uri="{FF2B5EF4-FFF2-40B4-BE49-F238E27FC236}">
                <a16:creationId xmlns:a16="http://schemas.microsoft.com/office/drawing/2014/main" id="{C88317E2-EF10-7FCA-7D24-C0B5ED67B4B5}"/>
              </a:ext>
            </a:extLst>
          </p:cNvPr>
          <p:cNvCxnSpPr>
            <a:cxnSpLocks/>
          </p:cNvCxnSpPr>
          <p:nvPr/>
        </p:nvCxnSpPr>
        <p:spPr>
          <a:xfrm flipH="1">
            <a:off x="5130800" y="1301726"/>
            <a:ext cx="146154" cy="200055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7BBD4D04-BBA4-D611-9313-90509644092F}"/>
              </a:ext>
            </a:extLst>
          </p:cNvPr>
          <p:cNvCxnSpPr>
            <a:cxnSpLocks/>
          </p:cNvCxnSpPr>
          <p:nvPr/>
        </p:nvCxnSpPr>
        <p:spPr>
          <a:xfrm>
            <a:off x="5380688" y="1501781"/>
            <a:ext cx="631591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16C364A-1B28-3C03-27CB-39CC91F8D4B5}"/>
              </a:ext>
            </a:extLst>
          </p:cNvPr>
          <p:cNvSpPr txBox="1"/>
          <p:nvPr/>
        </p:nvSpPr>
        <p:spPr>
          <a:xfrm>
            <a:off x="5338568" y="1101671"/>
            <a:ext cx="2008883" cy="400110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2000" b="1" dirty="0"/>
              <a:t>Strategy Design</a:t>
            </a:r>
            <a:endParaRPr kumimoji="1" lang="zh-CN" altLang="en-US" sz="20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36C3395-7422-FB8D-5E1B-AA105843C331}"/>
              </a:ext>
            </a:extLst>
          </p:cNvPr>
          <p:cNvSpPr/>
          <p:nvPr/>
        </p:nvSpPr>
        <p:spPr>
          <a:xfrm>
            <a:off x="9102016" y="1704826"/>
            <a:ext cx="2744493" cy="228567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</a:rPr>
              <a:t>Business Expansion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Financial Products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Investment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Law Consultation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End-of-life Care</a:t>
            </a:r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B1404906-0873-93BF-2BFF-D6D4AA1673C9}"/>
              </a:ext>
            </a:extLst>
          </p:cNvPr>
          <p:cNvCxnSpPr>
            <a:cxnSpLocks/>
          </p:cNvCxnSpPr>
          <p:nvPr/>
        </p:nvCxnSpPr>
        <p:spPr>
          <a:xfrm>
            <a:off x="5119516" y="1091727"/>
            <a:ext cx="154505" cy="209998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D52F9750-F9D9-3123-547B-1636A542B762}"/>
              </a:ext>
            </a:extLst>
          </p:cNvPr>
          <p:cNvCxnSpPr>
            <a:cxnSpLocks/>
          </p:cNvCxnSpPr>
          <p:nvPr/>
        </p:nvCxnSpPr>
        <p:spPr>
          <a:xfrm flipH="1">
            <a:off x="11700783" y="1301726"/>
            <a:ext cx="146154" cy="200055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线连接符 41">
            <a:extLst>
              <a:ext uri="{FF2B5EF4-FFF2-40B4-BE49-F238E27FC236}">
                <a16:creationId xmlns:a16="http://schemas.microsoft.com/office/drawing/2014/main" id="{B858C90B-882B-9F0F-E1C6-32A81A3999F1}"/>
              </a:ext>
            </a:extLst>
          </p:cNvPr>
          <p:cNvCxnSpPr>
            <a:cxnSpLocks/>
          </p:cNvCxnSpPr>
          <p:nvPr/>
        </p:nvCxnSpPr>
        <p:spPr>
          <a:xfrm>
            <a:off x="11696607" y="1082253"/>
            <a:ext cx="154505" cy="209998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D7EA58E7-1FB5-602C-80D7-AECF5131149E}"/>
              </a:ext>
            </a:extLst>
          </p:cNvPr>
          <p:cNvSpPr/>
          <p:nvPr/>
        </p:nvSpPr>
        <p:spPr>
          <a:xfrm>
            <a:off x="2003918" y="4248001"/>
            <a:ext cx="3126882" cy="14097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chemeClr val="tx1"/>
                </a:solidFill>
              </a:rPr>
              <a:t>Yada should capture market trends and meet the increasing demand for elderly care services, as a reputable company. </a:t>
            </a: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8465E15-3D27-AC57-3B36-44A500942880}"/>
              </a:ext>
            </a:extLst>
          </p:cNvPr>
          <p:cNvSpPr/>
          <p:nvPr/>
        </p:nvSpPr>
        <p:spPr>
          <a:xfrm>
            <a:off x="2003918" y="5915287"/>
            <a:ext cx="9842591" cy="400108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Achieve healthy revenue growth in Mainland China senior living &amp; care market</a:t>
            </a:r>
            <a:endParaRPr kumimoji="1" lang="zh-CN" altLang="en-US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98BE3B-63F5-6F17-7C83-2FB7961EAA1A}"/>
              </a:ext>
            </a:extLst>
          </p:cNvPr>
          <p:cNvSpPr/>
          <p:nvPr/>
        </p:nvSpPr>
        <p:spPr>
          <a:xfrm>
            <a:off x="2003918" y="1704825"/>
            <a:ext cx="3126882" cy="2280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Policy Sorting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Market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Customer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Industry 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Competitive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Pain Points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pic>
        <p:nvPicPr>
          <p:cNvPr id="55" name="图形 54">
            <a:extLst>
              <a:ext uri="{FF2B5EF4-FFF2-40B4-BE49-F238E27FC236}">
                <a16:creationId xmlns:a16="http://schemas.microsoft.com/office/drawing/2014/main" id="{F4D7DA8E-4E03-A554-6B44-D5C19068C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96436AE1-1181-444C-84DF-D21DFE98E7DC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A7811FA-D8C2-5661-9AB4-B07CA1ABE26E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7FE0C10A-B6FC-7B6C-C6AD-4DD2F04C6082}"/>
              </a:ext>
            </a:extLst>
          </p:cNvPr>
          <p:cNvSpPr txBox="1"/>
          <p:nvPr/>
        </p:nvSpPr>
        <p:spPr>
          <a:xfrm>
            <a:off x="345486" y="671727"/>
            <a:ext cx="685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00" dirty="0">
                <a:solidFill>
                  <a:srgbClr val="CCCCCC"/>
                </a:solidFill>
              </a:rPr>
              <a:t>Fast-paced implementation is supported by strong existing operational capacity in chosen markets</a:t>
            </a:r>
          </a:p>
        </p:txBody>
      </p:sp>
    </p:spTree>
    <p:extLst>
      <p:ext uri="{BB962C8B-B14F-4D97-AF65-F5344CB8AC3E}">
        <p14:creationId xmlns:p14="http://schemas.microsoft.com/office/powerpoint/2010/main" val="72835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E1CE934-85F8-0826-B36E-D69350947AEA}"/>
              </a:ext>
            </a:extLst>
          </p:cNvPr>
          <p:cNvSpPr txBox="1"/>
          <p:nvPr/>
        </p:nvSpPr>
        <p:spPr>
          <a:xfrm>
            <a:off x="244988" y="92571"/>
            <a:ext cx="1006393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Building Long- Term Value in Australia: Co-developing BESS with ongoing Australian solar projects prevents a recurrence of volatility driven weak returns</a:t>
            </a:r>
          </a:p>
        </p:txBody>
      </p: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92DE8C43-F71D-E261-E900-A4AF4124A7C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6BFAE83-F5E5-D2C2-386B-D95345B9B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228421"/>
              </p:ext>
            </p:extLst>
          </p:nvPr>
        </p:nvGraphicFramePr>
        <p:xfrm>
          <a:off x="345486" y="1150694"/>
          <a:ext cx="5347102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91766">
                  <a:extLst>
                    <a:ext uri="{9D8B030D-6E8A-4147-A177-3AD203B41FA5}">
                      <a16:colId xmlns:a16="http://schemas.microsoft.com/office/drawing/2014/main" val="505092938"/>
                    </a:ext>
                  </a:extLst>
                </a:gridCol>
                <a:gridCol w="4155336">
                  <a:extLst>
                    <a:ext uri="{9D8B030D-6E8A-4147-A177-3AD203B41FA5}">
                      <a16:colId xmlns:a16="http://schemas.microsoft.com/office/drawing/2014/main" val="2270245355"/>
                    </a:ext>
                  </a:extLst>
                </a:gridCol>
              </a:tblGrid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23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%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record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high negative price 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dispatch interval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418244"/>
                  </a:ext>
                </a:extLst>
              </a:tr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10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GW+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project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pipeline active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in Australia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6144150"/>
                  </a:ext>
                </a:extLst>
              </a:tr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$</a:t>
                      </a:r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13.6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Bn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record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quarterly investment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in BESS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449463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F9A12CFF-2053-1A0E-7B5B-9C20C82C2559}"/>
              </a:ext>
            </a:extLst>
          </p:cNvPr>
          <p:cNvSpPr/>
          <p:nvPr/>
        </p:nvSpPr>
        <p:spPr>
          <a:xfrm>
            <a:off x="345486" y="3899687"/>
            <a:ext cx="3713897" cy="926645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Leverage existing and under-construction and existing projects as anchor sites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Accelerate time to market as a flexibility trade with merchant offtake agreement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78234A61-9194-2290-DA55-FE48C0B4A6C9}"/>
              </a:ext>
            </a:extLst>
          </p:cNvPr>
          <p:cNvSpPr/>
          <p:nvPr/>
        </p:nvSpPr>
        <p:spPr>
          <a:xfrm>
            <a:off x="345486" y="3436501"/>
            <a:ext cx="3713897" cy="4645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Improve Viability in New</a:t>
            </a:r>
            <a:br>
              <a:rPr kumimoji="1" lang="en-US" altLang="zh-CN" sz="1400" b="1" dirty="0">
                <a:solidFill>
                  <a:schemeClr val="tx2"/>
                </a:solidFill>
              </a:rPr>
            </a:br>
            <a:r>
              <a:rPr kumimoji="1" lang="en-US" altLang="zh-CN" sz="1400" b="1" dirty="0">
                <a:solidFill>
                  <a:schemeClr val="tx2"/>
                </a:solidFill>
              </a:rPr>
              <a:t>and Expanding Geography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71654AB-1E63-738F-6188-2B2D9578C25B}"/>
              </a:ext>
            </a:extLst>
          </p:cNvPr>
          <p:cNvSpPr/>
          <p:nvPr/>
        </p:nvSpPr>
        <p:spPr>
          <a:xfrm>
            <a:off x="4238613" y="3896036"/>
            <a:ext cx="3713897" cy="92664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Co-deploy BESS with ongoing projects to prevent future generation revenue gaps.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Capture potential inefficiency gains whilst hedging downside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3403EC62-5731-3FE5-1137-179FF704109A}"/>
              </a:ext>
            </a:extLst>
          </p:cNvPr>
          <p:cNvSpPr/>
          <p:nvPr/>
        </p:nvSpPr>
        <p:spPr>
          <a:xfrm>
            <a:off x="4243718" y="3618577"/>
            <a:ext cx="3713897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Future Proofing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138092-F4B2-C32E-972A-A181FB876E96}"/>
              </a:ext>
            </a:extLst>
          </p:cNvPr>
          <p:cNvSpPr/>
          <p:nvPr/>
        </p:nvSpPr>
        <p:spPr>
          <a:xfrm>
            <a:off x="8131740" y="3711437"/>
            <a:ext cx="3713897" cy="1120869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Australia’s NEM exhibits higher trading volatility and structural inefficiencies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Capture arbitrate revenue during surges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Utilize machine learning to optimize PPAs and dispatch strategies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EFBC0108-0B27-AFE1-FC89-55A2928905BA}"/>
              </a:ext>
            </a:extLst>
          </p:cNvPr>
          <p:cNvSpPr/>
          <p:nvPr/>
        </p:nvSpPr>
        <p:spPr>
          <a:xfrm>
            <a:off x="8131740" y="3429000"/>
            <a:ext cx="3713897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Leverage Trading Inefficiencies</a:t>
            </a:r>
          </a:p>
        </p:txBody>
      </p:sp>
      <p:sp>
        <p:nvSpPr>
          <p:cNvPr id="17" name="半闭框 16">
            <a:extLst>
              <a:ext uri="{FF2B5EF4-FFF2-40B4-BE49-F238E27FC236}">
                <a16:creationId xmlns:a16="http://schemas.microsoft.com/office/drawing/2014/main" id="{11E4A961-217E-B4CC-8F4C-4670978CA02F}"/>
              </a:ext>
            </a:extLst>
          </p:cNvPr>
          <p:cNvSpPr/>
          <p:nvPr/>
        </p:nvSpPr>
        <p:spPr>
          <a:xfrm rot="13500000">
            <a:off x="2049716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5832FA94-8BEB-240A-539A-1F63A8B14BCA}"/>
              </a:ext>
            </a:extLst>
          </p:cNvPr>
          <p:cNvSpPr/>
          <p:nvPr/>
        </p:nvSpPr>
        <p:spPr>
          <a:xfrm>
            <a:off x="345486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Establish an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efficient, low-risk foothold</a:t>
            </a:r>
            <a:r>
              <a:rPr kumimoji="1" lang="en-US" altLang="zh-CN" sz="1400" dirty="0">
                <a:solidFill>
                  <a:schemeClr val="tx1"/>
                </a:solidFill>
              </a:rPr>
              <a:t> in a volatile but high-potential market</a:t>
            </a:r>
          </a:p>
        </p:txBody>
      </p:sp>
      <p:sp>
        <p:nvSpPr>
          <p:cNvPr id="20" name="半闭框 19">
            <a:extLst>
              <a:ext uri="{FF2B5EF4-FFF2-40B4-BE49-F238E27FC236}">
                <a16:creationId xmlns:a16="http://schemas.microsoft.com/office/drawing/2014/main" id="{17B99E14-4EFC-7938-5876-FBE644675ED6}"/>
              </a:ext>
            </a:extLst>
          </p:cNvPr>
          <p:cNvSpPr/>
          <p:nvPr/>
        </p:nvSpPr>
        <p:spPr>
          <a:xfrm rot="13500000">
            <a:off x="5946307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545E689-0D59-E65F-D0F5-AC86423E6547}"/>
              </a:ext>
            </a:extLst>
          </p:cNvPr>
          <p:cNvSpPr/>
          <p:nvPr/>
        </p:nvSpPr>
        <p:spPr>
          <a:xfrm>
            <a:off x="4242077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Build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resilience against curtailment </a:t>
            </a:r>
            <a:r>
              <a:rPr kumimoji="1" lang="en-US" altLang="zh-CN" sz="1400" dirty="0">
                <a:solidFill>
                  <a:schemeClr val="tx1"/>
                </a:solidFill>
              </a:rPr>
              <a:t>and long-term revenue compression</a:t>
            </a:r>
          </a:p>
        </p:txBody>
      </p:sp>
      <p:sp>
        <p:nvSpPr>
          <p:cNvPr id="22" name="半闭框 21">
            <a:extLst>
              <a:ext uri="{FF2B5EF4-FFF2-40B4-BE49-F238E27FC236}">
                <a16:creationId xmlns:a16="http://schemas.microsoft.com/office/drawing/2014/main" id="{DEDF063F-6A27-0558-EDFB-647A7A8DC6AF}"/>
              </a:ext>
            </a:extLst>
          </p:cNvPr>
          <p:cNvSpPr/>
          <p:nvPr/>
        </p:nvSpPr>
        <p:spPr>
          <a:xfrm rot="13500000">
            <a:off x="9832507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1549D3C-8DE1-4B31-AB68-03938C52F095}"/>
              </a:ext>
            </a:extLst>
          </p:cNvPr>
          <p:cNvSpPr/>
          <p:nvPr/>
        </p:nvSpPr>
        <p:spPr>
          <a:xfrm>
            <a:off x="8128277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Turn Australia’s market volatility into a </a:t>
            </a:r>
            <a:br>
              <a:rPr kumimoji="1" lang="en-US" altLang="zh-CN" sz="1400" dirty="0">
                <a:solidFill>
                  <a:schemeClr val="tx1"/>
                </a:solidFill>
              </a:rPr>
            </a:br>
            <a:r>
              <a:rPr kumimoji="1" lang="en-US" altLang="zh-CN" sz="1400" b="1" dirty="0">
                <a:solidFill>
                  <a:schemeClr val="tx1"/>
                </a:solidFill>
              </a:rPr>
              <a:t>data-driven competitive edge</a:t>
            </a:r>
          </a:p>
        </p:txBody>
      </p:sp>
      <p:pic>
        <p:nvPicPr>
          <p:cNvPr id="24" name="图形 23">
            <a:extLst>
              <a:ext uri="{FF2B5EF4-FFF2-40B4-BE49-F238E27FC236}">
                <a16:creationId xmlns:a16="http://schemas.microsoft.com/office/drawing/2014/main" id="{FAFC9884-6246-F634-E0FD-A3070E684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BB15453-D652-794B-55FC-16712E1ED423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BCFF956-0E02-B37C-A090-15397127068A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875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90C2D6C3-F672-03CB-95B6-7768AA384B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40BB8C5-317F-655D-5BE1-0210F7527F90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5F0B02-6935-E3A8-E599-4F3824E24311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C217ACF-4130-49D3-4C52-EA50A97F4F6F}"/>
              </a:ext>
            </a:extLst>
          </p:cNvPr>
          <p:cNvSpPr txBox="1"/>
          <p:nvPr/>
        </p:nvSpPr>
        <p:spPr>
          <a:xfrm>
            <a:off x="244988" y="92571"/>
            <a:ext cx="11406311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Risk Mitigation: The blended ownership model offsets the proposal's most critical risks, protecting against severe downside</a:t>
            </a:r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C986A6CE-D2DC-B17A-8342-F5B4591BBA0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CA88D83A-5172-4079-3EE0-40D82178B9D6}"/>
              </a:ext>
            </a:extLst>
          </p:cNvPr>
          <p:cNvSpPr/>
          <p:nvPr/>
        </p:nvSpPr>
        <p:spPr>
          <a:xfrm>
            <a:off x="5728242" y="1321262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Germany Regulatory</a:t>
            </a:r>
          </a:p>
          <a:p>
            <a:r>
              <a:rPr kumimoji="1" lang="en-US" altLang="zh-CN" sz="1400" b="1" dirty="0">
                <a:solidFill>
                  <a:schemeClr val="tx1"/>
                </a:solidFill>
              </a:rPr>
              <a:t>Environment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B49B9359-07E6-9820-71DF-F889BAE58EFC}"/>
              </a:ext>
            </a:extLst>
          </p:cNvPr>
          <p:cNvSpPr/>
          <p:nvPr/>
        </p:nvSpPr>
        <p:spPr>
          <a:xfrm>
            <a:off x="5466825" y="1321266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A0A004-9899-2873-E37E-ADB0C445D411}"/>
              </a:ext>
            </a:extLst>
          </p:cNvPr>
          <p:cNvSpPr/>
          <p:nvPr/>
        </p:nvSpPr>
        <p:spPr>
          <a:xfrm>
            <a:off x="8052335" y="1321261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Slow project approval and project sales could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significantly slow ability to cash recycle</a:t>
            </a:r>
          </a:p>
        </p:txBody>
      </p:sp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9E7E5E45-CEB0-9F21-275B-46E1846C6AE9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7868159" y="1565635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A4D0989F-24AA-FCBF-C03A-C64320E1B2DB}"/>
              </a:ext>
            </a:extLst>
          </p:cNvPr>
          <p:cNvSpPr/>
          <p:nvPr/>
        </p:nvSpPr>
        <p:spPr>
          <a:xfrm>
            <a:off x="5728242" y="1923935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High Leverage Risk from Merchant Agreements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C4DDBA0C-C25A-6AEF-7143-E55E2FB6DF0C}"/>
              </a:ext>
            </a:extLst>
          </p:cNvPr>
          <p:cNvSpPr/>
          <p:nvPr/>
        </p:nvSpPr>
        <p:spPr>
          <a:xfrm>
            <a:off x="5466825" y="1923934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2</a:t>
            </a:r>
            <a:endParaRPr kumimoji="1" lang="zh-CN" altLang="en-US" sz="1600" b="1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1754FC1E-411B-4701-DFE6-6AB447D98DBB}"/>
              </a:ext>
            </a:extLst>
          </p:cNvPr>
          <p:cNvSpPr/>
          <p:nvPr/>
        </p:nvSpPr>
        <p:spPr>
          <a:xfrm>
            <a:off x="8052335" y="1923934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If price volatility stabilizes, long-term ROI could sharply decline without floor price guarantee</a:t>
            </a:r>
          </a:p>
        </p:txBody>
      </p:sp>
      <p:cxnSp>
        <p:nvCxnSpPr>
          <p:cNvPr id="18" name="直线连接符 17">
            <a:extLst>
              <a:ext uri="{FF2B5EF4-FFF2-40B4-BE49-F238E27FC236}">
                <a16:creationId xmlns:a16="http://schemas.microsoft.com/office/drawing/2014/main" id="{3830BEC9-46DA-BADE-3E40-3BEEA161BAE6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7868160" y="2168308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4B0AB8FE-C0B0-876D-9324-48366A51C7BA}"/>
              </a:ext>
            </a:extLst>
          </p:cNvPr>
          <p:cNvSpPr/>
          <p:nvPr/>
        </p:nvSpPr>
        <p:spPr>
          <a:xfrm>
            <a:off x="5728242" y="2529952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Rapid BESS Technology Advancements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19858136-2129-88C5-46ED-4BB09E66E53E}"/>
              </a:ext>
            </a:extLst>
          </p:cNvPr>
          <p:cNvSpPr/>
          <p:nvPr/>
        </p:nvSpPr>
        <p:spPr>
          <a:xfrm>
            <a:off x="5466825" y="2529956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35024976-FD49-3DF0-A388-945A5177D634}"/>
              </a:ext>
            </a:extLst>
          </p:cNvPr>
          <p:cNvSpPr/>
          <p:nvPr/>
        </p:nvSpPr>
        <p:spPr>
          <a:xfrm>
            <a:off x="8052335" y="2529951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Rapid BESS advancement and adoption could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leave existing projects inefficient, reducing ROI</a:t>
            </a:r>
          </a:p>
        </p:txBody>
      </p: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E5EBD285-70D0-099D-1D2D-55F56054C099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V="1">
            <a:off x="7868159" y="2774325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1402583-D522-0786-F803-8030FE8817B5}"/>
              </a:ext>
            </a:extLst>
          </p:cNvPr>
          <p:cNvSpPr/>
          <p:nvPr/>
        </p:nvSpPr>
        <p:spPr>
          <a:xfrm>
            <a:off x="5728242" y="3132625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Operation &amp; Construction Delays</a:t>
            </a:r>
          </a:p>
        </p:txBody>
      </p:sp>
      <p:sp>
        <p:nvSpPr>
          <p:cNvPr id="30" name="圆角矩形 29">
            <a:extLst>
              <a:ext uri="{FF2B5EF4-FFF2-40B4-BE49-F238E27FC236}">
                <a16:creationId xmlns:a16="http://schemas.microsoft.com/office/drawing/2014/main" id="{0D16923E-CBF3-B76B-8EAB-AA7ED2684812}"/>
              </a:ext>
            </a:extLst>
          </p:cNvPr>
          <p:cNvSpPr/>
          <p:nvPr/>
        </p:nvSpPr>
        <p:spPr>
          <a:xfrm>
            <a:off x="5466825" y="3132624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4</a:t>
            </a:r>
            <a:endParaRPr kumimoji="1" lang="zh-CN" altLang="en-US" sz="1600" b="1" dirty="0"/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FEEF2A6E-76AF-2D6C-9A2C-56530C7B4BBC}"/>
              </a:ext>
            </a:extLst>
          </p:cNvPr>
          <p:cNvSpPr/>
          <p:nvPr/>
        </p:nvSpPr>
        <p:spPr>
          <a:xfrm>
            <a:off x="8052335" y="3132624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Delays could tie up capital and prevent EE's ability to secure a dominant market position</a:t>
            </a:r>
          </a:p>
        </p:txBody>
      </p: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AC805526-DA2C-B57F-FC7B-0BFFC8F77A77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7868160" y="3376998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523052D-9F1C-0FF7-415E-49C912C3984D}"/>
              </a:ext>
            </a:extLst>
          </p:cNvPr>
          <p:cNvSpPr/>
          <p:nvPr/>
        </p:nvSpPr>
        <p:spPr>
          <a:xfrm>
            <a:off x="5728242" y="3738641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Lack of Project </a:t>
            </a:r>
            <a:br>
              <a:rPr kumimoji="1" lang="en-US" altLang="zh-CN" sz="1400" b="1" dirty="0">
                <a:solidFill>
                  <a:schemeClr val="tx1"/>
                </a:solidFill>
              </a:rPr>
            </a:br>
            <a:r>
              <a:rPr kumimoji="1" lang="en-US" altLang="zh-CN" sz="1400" b="1" dirty="0">
                <a:solidFill>
                  <a:schemeClr val="tx1"/>
                </a:solidFill>
              </a:rPr>
              <a:t>Sale Buyers</a:t>
            </a:r>
          </a:p>
        </p:txBody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5C2F44BB-ADC7-2B4E-6D28-C28FC78BF845}"/>
              </a:ext>
            </a:extLst>
          </p:cNvPr>
          <p:cNvSpPr/>
          <p:nvPr/>
        </p:nvSpPr>
        <p:spPr>
          <a:xfrm>
            <a:off x="5466825" y="3738645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5</a:t>
            </a:r>
            <a:endParaRPr kumimoji="1" lang="zh-CN" altLang="en-US" sz="1600" b="1" dirty="0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845EDE1-421E-B1DF-DBB7-81857931A447}"/>
              </a:ext>
            </a:extLst>
          </p:cNvPr>
          <p:cNvSpPr/>
          <p:nvPr/>
        </p:nvSpPr>
        <p:spPr>
          <a:xfrm>
            <a:off x="8052335" y="3738640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Slow project sales could slow cash recycling, but EE would generate returns in intermediary</a:t>
            </a:r>
          </a:p>
        </p:txBody>
      </p:sp>
      <p:cxnSp>
        <p:nvCxnSpPr>
          <p:cNvPr id="36" name="直线连接符 35">
            <a:extLst>
              <a:ext uri="{FF2B5EF4-FFF2-40B4-BE49-F238E27FC236}">
                <a16:creationId xmlns:a16="http://schemas.microsoft.com/office/drawing/2014/main" id="{81E98287-C8FD-6728-B59D-FBFCA5A72965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 flipV="1">
            <a:off x="7868159" y="3983014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34BAA28E-3856-E0AE-E749-4F7906A2EC43}"/>
              </a:ext>
            </a:extLst>
          </p:cNvPr>
          <p:cNvSpPr/>
          <p:nvPr/>
        </p:nvSpPr>
        <p:spPr>
          <a:xfrm>
            <a:off x="5728242" y="4341314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Fail to Secure Sufficient Debt Financing</a:t>
            </a:r>
          </a:p>
        </p:txBody>
      </p:sp>
      <p:sp>
        <p:nvSpPr>
          <p:cNvPr id="38" name="圆角矩形 37">
            <a:extLst>
              <a:ext uri="{FF2B5EF4-FFF2-40B4-BE49-F238E27FC236}">
                <a16:creationId xmlns:a16="http://schemas.microsoft.com/office/drawing/2014/main" id="{BD70D279-69C5-9A47-A831-EAB4F046C336}"/>
              </a:ext>
            </a:extLst>
          </p:cNvPr>
          <p:cNvSpPr/>
          <p:nvPr/>
        </p:nvSpPr>
        <p:spPr>
          <a:xfrm>
            <a:off x="5466825" y="4341313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6</a:t>
            </a:r>
            <a:endParaRPr kumimoji="1" lang="zh-CN" altLang="en-US" sz="1600" b="1" dirty="0"/>
          </a:p>
        </p:txBody>
      </p:sp>
      <p:sp>
        <p:nvSpPr>
          <p:cNvPr id="39" name="圆角矩形 38">
            <a:extLst>
              <a:ext uri="{FF2B5EF4-FFF2-40B4-BE49-F238E27FC236}">
                <a16:creationId xmlns:a16="http://schemas.microsoft.com/office/drawing/2014/main" id="{1C675C16-97F2-9B3A-3AB7-2DDBF14BFC28}"/>
              </a:ext>
            </a:extLst>
          </p:cNvPr>
          <p:cNvSpPr/>
          <p:nvPr/>
        </p:nvSpPr>
        <p:spPr>
          <a:xfrm>
            <a:off x="8052335" y="4341313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Projections depend on sufficient debt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financers, influenced by macro trends</a:t>
            </a:r>
          </a:p>
        </p:txBody>
      </p: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30F0A141-20ED-51D7-D489-2313FFB6C9E2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7868160" y="4585687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F04773C9-C3D6-C275-AECD-55A2DE1E4EEE}"/>
              </a:ext>
            </a:extLst>
          </p:cNvPr>
          <p:cNvSpPr/>
          <p:nvPr/>
        </p:nvSpPr>
        <p:spPr>
          <a:xfrm>
            <a:off x="5466825" y="5311531"/>
            <a:ext cx="6376098" cy="77433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CN" sz="1400" dirty="0">
                <a:solidFill>
                  <a:schemeClr val="tx1"/>
                </a:solidFill>
              </a:rPr>
              <a:t>The proposed two-phase approach involves both long-term merchant retrofit ownership and short-term project sales. This means that the risks of each phase (1) and (3) offset each other because they have different ownership timeframes.</a:t>
            </a:r>
          </a:p>
        </p:txBody>
      </p: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DE573C71-4EB3-04E5-F546-5E6627FD2E12}"/>
              </a:ext>
            </a:extLst>
          </p:cNvPr>
          <p:cNvCxnSpPr>
            <a:cxnSpLocks/>
          </p:cNvCxnSpPr>
          <p:nvPr/>
        </p:nvCxnSpPr>
        <p:spPr>
          <a:xfrm flipV="1">
            <a:off x="744135" y="1223725"/>
            <a:ext cx="0" cy="4475326"/>
          </a:xfrm>
          <a:prstGeom prst="straightConnector1">
            <a:avLst/>
          </a:prstGeom>
          <a:ln w="38100" cap="sq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5B9583AF-2CD8-F729-B5D2-650C50100BFF}"/>
              </a:ext>
            </a:extLst>
          </p:cNvPr>
          <p:cNvCxnSpPr>
            <a:cxnSpLocks/>
          </p:cNvCxnSpPr>
          <p:nvPr/>
        </p:nvCxnSpPr>
        <p:spPr>
          <a:xfrm>
            <a:off x="744135" y="5699051"/>
            <a:ext cx="4178739" cy="0"/>
          </a:xfrm>
          <a:prstGeom prst="straightConnector1">
            <a:avLst/>
          </a:prstGeom>
          <a:ln w="38100" cap="sq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FD6D3F2F-BBB4-5B3F-DC8D-827497154566}"/>
              </a:ext>
            </a:extLst>
          </p:cNvPr>
          <p:cNvSpPr txBox="1"/>
          <p:nvPr/>
        </p:nvSpPr>
        <p:spPr>
          <a:xfrm>
            <a:off x="203602" y="1055862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400" dirty="0"/>
              <a:t>High</a:t>
            </a:r>
            <a:endParaRPr kumimoji="1" lang="zh-CN" altLang="en-US" sz="14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45A5E05-C14F-A5E9-D2A7-4D3DD0777A1C}"/>
              </a:ext>
            </a:extLst>
          </p:cNvPr>
          <p:cNvSpPr txBox="1"/>
          <p:nvPr/>
        </p:nvSpPr>
        <p:spPr>
          <a:xfrm>
            <a:off x="279330" y="5662921"/>
            <a:ext cx="502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400" dirty="0"/>
              <a:t>Low</a:t>
            </a:r>
            <a:endParaRPr kumimoji="1"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F680207-6CC0-C917-B514-81982B146BD0}"/>
              </a:ext>
            </a:extLst>
          </p:cNvPr>
          <p:cNvSpPr txBox="1"/>
          <p:nvPr/>
        </p:nvSpPr>
        <p:spPr>
          <a:xfrm>
            <a:off x="4785088" y="5700077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/>
              <a:t>High</a:t>
            </a:r>
            <a:endParaRPr kumimoji="1" lang="zh-CN" altLang="en-US" sz="1400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E426A3A-4FD9-0353-6827-3E9E21C2CB9B}"/>
              </a:ext>
            </a:extLst>
          </p:cNvPr>
          <p:cNvSpPr txBox="1"/>
          <p:nvPr/>
        </p:nvSpPr>
        <p:spPr>
          <a:xfrm>
            <a:off x="2235167" y="5698026"/>
            <a:ext cx="11966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Probability</a:t>
            </a:r>
            <a:endParaRPr kumimoji="1" lang="zh-CN" altLang="en-US" sz="1600" b="1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FF55E5A-B686-CF5B-3C26-7F6544F69FFB}"/>
              </a:ext>
            </a:extLst>
          </p:cNvPr>
          <p:cNvSpPr txBox="1"/>
          <p:nvPr/>
        </p:nvSpPr>
        <p:spPr>
          <a:xfrm rot="16200000">
            <a:off x="150704" y="3259723"/>
            <a:ext cx="8483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Impact</a:t>
            </a:r>
            <a:endParaRPr kumimoji="1" lang="zh-CN" altLang="en-US" sz="1600" b="1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8A2D3C3-6EE5-37F2-7946-12EA6D6D0544}"/>
              </a:ext>
            </a:extLst>
          </p:cNvPr>
          <p:cNvSpPr/>
          <p:nvPr/>
        </p:nvSpPr>
        <p:spPr>
          <a:xfrm>
            <a:off x="989556" y="1565635"/>
            <a:ext cx="3670126" cy="3870661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69146E72-F524-5E61-E816-3FAA55312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745909"/>
              </p:ext>
            </p:extLst>
          </p:nvPr>
        </p:nvGraphicFramePr>
        <p:xfrm>
          <a:off x="989556" y="1565091"/>
          <a:ext cx="3670116" cy="3870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7529">
                  <a:extLst>
                    <a:ext uri="{9D8B030D-6E8A-4147-A177-3AD203B41FA5}">
                      <a16:colId xmlns:a16="http://schemas.microsoft.com/office/drawing/2014/main" val="112730010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260154138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366038521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326007348"/>
                    </a:ext>
                  </a:extLst>
                </a:gridCol>
              </a:tblGrid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347298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36162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26881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601458"/>
                  </a:ext>
                </a:extLst>
              </a:tr>
            </a:tbl>
          </a:graphicData>
        </a:graphic>
      </p:graphicFrame>
      <p:sp>
        <p:nvSpPr>
          <p:cNvPr id="56" name="椭圆 55">
            <a:extLst>
              <a:ext uri="{FF2B5EF4-FFF2-40B4-BE49-F238E27FC236}">
                <a16:creationId xmlns:a16="http://schemas.microsoft.com/office/drawing/2014/main" id="{86392C13-B4F2-9ADF-44BC-4A067779C3EC}"/>
              </a:ext>
            </a:extLst>
          </p:cNvPr>
          <p:cNvSpPr/>
          <p:nvPr/>
        </p:nvSpPr>
        <p:spPr>
          <a:xfrm>
            <a:off x="3541425" y="3327127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1</a:t>
            </a:r>
            <a:endParaRPr kumimoji="1" lang="zh-CN" altLang="en-US" b="1" dirty="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A344EB1F-9D76-AE55-964E-38D01157DC7C}"/>
              </a:ext>
            </a:extLst>
          </p:cNvPr>
          <p:cNvSpPr/>
          <p:nvPr/>
        </p:nvSpPr>
        <p:spPr>
          <a:xfrm>
            <a:off x="2061873" y="3024665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2</a:t>
            </a:r>
            <a:endParaRPr kumimoji="1" lang="zh-CN" altLang="en-US" b="1" dirty="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0069C9AF-796B-4E36-C415-840EB663EC65}"/>
              </a:ext>
            </a:extLst>
          </p:cNvPr>
          <p:cNvSpPr/>
          <p:nvPr/>
        </p:nvSpPr>
        <p:spPr>
          <a:xfrm>
            <a:off x="2716308" y="2222929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3</a:t>
            </a:r>
            <a:endParaRPr kumimoji="1" lang="zh-CN" altLang="en-US" b="1" dirty="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F3886199-7519-9174-EBC7-D16FD8C24C1D}"/>
              </a:ext>
            </a:extLst>
          </p:cNvPr>
          <p:cNvSpPr/>
          <p:nvPr/>
        </p:nvSpPr>
        <p:spPr>
          <a:xfrm>
            <a:off x="1248843" y="2429407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6</a:t>
            </a:r>
            <a:endParaRPr kumimoji="1" lang="zh-CN" altLang="en-US" b="1" dirty="0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270CD78F-09F6-2B91-845C-54BF945750C3}"/>
              </a:ext>
            </a:extLst>
          </p:cNvPr>
          <p:cNvSpPr/>
          <p:nvPr/>
        </p:nvSpPr>
        <p:spPr>
          <a:xfrm>
            <a:off x="1130856" y="3646149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4</a:t>
            </a:r>
            <a:endParaRPr kumimoji="1" lang="zh-CN" altLang="en-US" b="1" dirty="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7F05CD1-2735-4F70-3781-36B3438225AD}"/>
              </a:ext>
            </a:extLst>
          </p:cNvPr>
          <p:cNvSpPr/>
          <p:nvPr/>
        </p:nvSpPr>
        <p:spPr>
          <a:xfrm>
            <a:off x="2008385" y="4272955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5</a:t>
            </a:r>
            <a:endParaRPr kumimoji="1" lang="zh-CN" altLang="en-US" b="1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D7A39BA-9277-CCC4-4E26-1CFE0EB377C3}"/>
              </a:ext>
            </a:extLst>
          </p:cNvPr>
          <p:cNvSpPr txBox="1"/>
          <p:nvPr/>
        </p:nvSpPr>
        <p:spPr>
          <a:xfrm>
            <a:off x="279330" y="659772"/>
            <a:ext cx="685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00" dirty="0">
                <a:solidFill>
                  <a:srgbClr val="CCCCCC"/>
                </a:solidFill>
              </a:rPr>
              <a:t>Fast-paced implementation is supported by strong existing operational capacity in chosen markets</a:t>
            </a:r>
          </a:p>
        </p:txBody>
      </p:sp>
    </p:spTree>
    <p:extLst>
      <p:ext uri="{BB962C8B-B14F-4D97-AF65-F5344CB8AC3E}">
        <p14:creationId xmlns:p14="http://schemas.microsoft.com/office/powerpoint/2010/main" val="289881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48F065E-EFF5-324C-9D3B-D7EF256B5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0" y="1346200"/>
            <a:ext cx="7518400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569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93027" y="10601"/>
            <a:ext cx="5943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1A1A1A"/>
                </a:solidFill>
              </a:rP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460" y="359852"/>
            <a:ext cx="685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dirty="0">
                <a:solidFill>
                  <a:srgbClr val="CCCCCC"/>
                </a:solidFill>
              </a:rPr>
              <a:t>Fast-paced implementation is supported by strong existing operational capacity in chosen markets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308" y="749808"/>
            <a:ext cx="1691640" cy="370332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057" y="1006089"/>
            <a:ext cx="1627632" cy="484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C00000"/>
                </a:solidFill>
              </a:rPr>
              <a:t>Retrofitting to
Stabilize Cashflow
and Expand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32" y="2143605"/>
            <a:ext cx="1627632" cy="484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C00000"/>
                </a:solidFill>
              </a:rPr>
              <a:t>Expansion into the
new geographic
market - Australia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40" y="2953513"/>
            <a:ext cx="162763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C00000"/>
                </a:solidFill>
              </a:rPr>
              <a:t>Capture highly
profitable Germany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948" y="749808"/>
            <a:ext cx="781812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89849" y="786384"/>
            <a:ext cx="70403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2026</a:t>
            </a:r>
            <a:r>
              <a:rPr sz="1000">
                <a:solidFill>
                  <a:srgbClr val="FFFFFF"/>
                </a:solidFill>
              </a:rPr>
              <a:t>H1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7441" y="786384"/>
            <a:ext cx="70403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2026</a:t>
            </a:r>
            <a:r>
              <a:rPr sz="1000">
                <a:solidFill>
                  <a:srgbClr val="FFFFFF"/>
                </a:solidFill>
              </a:rP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033" y="786384"/>
            <a:ext cx="70403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2027</a:t>
            </a:r>
            <a:r>
              <a:rPr sz="1000">
                <a:solidFill>
                  <a:srgbClr val="FFFFFF"/>
                </a:solidFill>
              </a:rPr>
              <a:t>H1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2625" y="786384"/>
            <a:ext cx="70403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2027</a:t>
            </a:r>
            <a:r>
              <a:rPr sz="1000">
                <a:solidFill>
                  <a:srgbClr val="FFFFFF"/>
                </a:solidFill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0217" y="786384"/>
            <a:ext cx="70403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2028</a:t>
            </a:r>
            <a:r>
              <a:rPr sz="1000">
                <a:solidFill>
                  <a:srgbClr val="FFFFFF"/>
                </a:solidFill>
              </a:rPr>
              <a:t>H1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7809" y="786384"/>
            <a:ext cx="70403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2028</a:t>
            </a:r>
            <a:r>
              <a:rPr sz="1000">
                <a:solidFill>
                  <a:srgbClr val="FFFFFF"/>
                </a:solidFill>
              </a:rPr>
              <a:t>H2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95664" y="749808"/>
            <a:ext cx="0" cy="370332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03256" y="749808"/>
            <a:ext cx="0" cy="370332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510848" y="749808"/>
            <a:ext cx="0" cy="370332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18440" y="749808"/>
            <a:ext cx="0" cy="370332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126032" y="749808"/>
            <a:ext cx="0" cy="370332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738948" y="1463040"/>
            <a:ext cx="7818120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38948" y="2651760"/>
            <a:ext cx="7818120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953574" y="1128862"/>
            <a:ext cx="914400" cy="2743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954223" y="114184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Complete
Lithuania work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1757752" y="1177950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58892" y="119932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83382" y="1481108"/>
            <a:ext cx="182880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889566" y="1481346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dirty="0">
                <a:solidFill>
                  <a:srgbClr val="1A1A1A"/>
                </a:solidFill>
              </a:rPr>
              <a:t>Completion of Denmark work
Secure grid upgrades and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1758892" y="1496829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36661" y="1484115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16972" y="1175004"/>
            <a:ext cx="2560320" cy="4754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62107" y="1226050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Reinvest profits into offsetting OPEX cost
Monitor BESS and invest in new technologies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30388" y="1819656"/>
            <a:ext cx="91440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876107" y="1819657"/>
            <a:ext cx="1188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Strategize
market entry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7828" y="2148840"/>
            <a:ext cx="137160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53548" y="2148841"/>
            <a:ext cx="14630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Completion of Australia
retrofitted Project</a:t>
            </a:r>
          </a:p>
        </p:txBody>
      </p:sp>
      <p:sp>
        <p:nvSpPr>
          <p:cNvPr id="42" name="Rectangle 41"/>
          <p:cNvSpPr/>
          <p:nvPr/>
        </p:nvSpPr>
        <p:spPr>
          <a:xfrm rot="2700000">
            <a:off x="4125532" y="2176272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25532" y="217627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9428" y="1819656"/>
            <a:ext cx="164592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25148" y="1819657"/>
            <a:ext cx="1554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Monitor potential option
to enter standalone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9428" y="2148840"/>
            <a:ext cx="164592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25148" y="2148841"/>
            <a:ext cx="1554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Continued investment
into project if profitable</a:t>
            </a:r>
          </a:p>
        </p:txBody>
      </p:sp>
      <p:sp>
        <p:nvSpPr>
          <p:cNvPr id="48" name="Rectangle 47"/>
          <p:cNvSpPr/>
          <p:nvPr/>
        </p:nvSpPr>
        <p:spPr>
          <a:xfrm rot="2700000">
            <a:off x="5497132" y="2176272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97132" y="217627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30388" y="2834639"/>
            <a:ext cx="228600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876107" y="283464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Strategize market entry and leverage
connections to mitigate regulation hurdles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30388" y="3163824"/>
            <a:ext cx="2286000" cy="256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876107" y="3163825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Strengthen relationships with potential
investors and investment banks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07828" y="2999232"/>
            <a:ext cx="5230368" cy="47548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83059" y="3049524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1A1A1A"/>
                </a:solidFill>
              </a:rPr>
              <a:t>Completion of standalone German BESS
Continue expansion if project profitable with strong demand</a:t>
            </a:r>
          </a:p>
        </p:txBody>
      </p:sp>
      <p:sp>
        <p:nvSpPr>
          <p:cNvPr id="56" name="Rectangle 55"/>
          <p:cNvSpPr/>
          <p:nvPr/>
        </p:nvSpPr>
        <p:spPr>
          <a:xfrm rot="2700000">
            <a:off x="1761318" y="1921179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782798" y="194243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8" name="Rectangle 57"/>
          <p:cNvSpPr/>
          <p:nvPr/>
        </p:nvSpPr>
        <p:spPr>
          <a:xfrm rot="2700000">
            <a:off x="4127619" y="3056328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133923" y="307969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738948" y="4480560"/>
            <a:ext cx="7818120" cy="256032"/>
          </a:xfrm>
          <a:prstGeom prst="rect">
            <a:avLst/>
          </a:prstGeom>
          <a:solidFill>
            <a:srgbClr val="F0E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738948" y="4498848"/>
            <a:ext cx="78181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Key Pricing Spending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784668" y="4773168"/>
            <a:ext cx="1188720" cy="164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793812" y="4773169"/>
            <a:ext cx="117043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</a:rPr>
              <a:t>Year 1</a:t>
            </a:r>
          </a:p>
        </p:txBody>
      </p:sp>
      <p:sp>
        <p:nvSpPr>
          <p:cNvPr id="64" name="Rectangle 63"/>
          <p:cNvSpPr/>
          <p:nvPr/>
        </p:nvSpPr>
        <p:spPr>
          <a:xfrm rot="2700000">
            <a:off x="1748092" y="5175503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48092" y="5175503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5836" y="5184648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€37.1 million invested</a:t>
            </a:r>
          </a:p>
        </p:txBody>
      </p:sp>
      <p:sp>
        <p:nvSpPr>
          <p:cNvPr id="67" name="Rectangle 66"/>
          <p:cNvSpPr/>
          <p:nvPr/>
        </p:nvSpPr>
        <p:spPr>
          <a:xfrm rot="2700000">
            <a:off x="1748092" y="5449823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748092" y="5449823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85836" y="5458968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€62.9 million invested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6388" y="4773168"/>
            <a:ext cx="2103120" cy="164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25533" y="4773169"/>
            <a:ext cx="2084831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</a:rPr>
              <a:t>Year 2</a:t>
            </a:r>
          </a:p>
        </p:txBody>
      </p:sp>
      <p:sp>
        <p:nvSpPr>
          <p:cNvPr id="72" name="Rectangle 71"/>
          <p:cNvSpPr/>
          <p:nvPr/>
        </p:nvSpPr>
        <p:spPr>
          <a:xfrm rot="2700000">
            <a:off x="4061523" y="5175503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061523" y="5175503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99268" y="5184648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€50 million invested</a:t>
            </a:r>
          </a:p>
        </p:txBody>
      </p:sp>
      <p:sp>
        <p:nvSpPr>
          <p:cNvPr id="75" name="Rectangle 74"/>
          <p:cNvSpPr/>
          <p:nvPr/>
        </p:nvSpPr>
        <p:spPr>
          <a:xfrm rot="2700000">
            <a:off x="4061523" y="5449823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061523" y="5449823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99268" y="5458968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€50 million invested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2388" y="4773168"/>
            <a:ext cx="3108960" cy="164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411532" y="4773169"/>
            <a:ext cx="3090672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</a:rPr>
              <a:t>Year 3</a:t>
            </a:r>
          </a:p>
        </p:txBody>
      </p:sp>
      <p:sp>
        <p:nvSpPr>
          <p:cNvPr id="80" name="Rectangle 79"/>
          <p:cNvSpPr/>
          <p:nvPr/>
        </p:nvSpPr>
        <p:spPr>
          <a:xfrm rot="2700000">
            <a:off x="6347524" y="5175503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47524" y="5175503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85268" y="5184648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€16 million invested</a:t>
            </a:r>
          </a:p>
        </p:txBody>
      </p:sp>
      <p:sp>
        <p:nvSpPr>
          <p:cNvPr id="83" name="Rectangle 82"/>
          <p:cNvSpPr/>
          <p:nvPr/>
        </p:nvSpPr>
        <p:spPr>
          <a:xfrm rot="2700000">
            <a:off x="6347524" y="5449823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347524" y="5449823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85268" y="5458968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€50 million invested</a:t>
            </a:r>
          </a:p>
        </p:txBody>
      </p:sp>
      <p:sp>
        <p:nvSpPr>
          <p:cNvPr id="86" name="Rectangle 85"/>
          <p:cNvSpPr/>
          <p:nvPr/>
        </p:nvSpPr>
        <p:spPr>
          <a:xfrm rot="2700000">
            <a:off x="6347524" y="5696712"/>
            <a:ext cx="201168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347524" y="56967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5268" y="5705856"/>
            <a:ext cx="2286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</a:rPr>
              <a:t>€14 million buffer capital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38948" y="6565392"/>
            <a:ext cx="16459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Overview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58020" y="6565392"/>
            <a:ext cx="16459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1A1A"/>
                </a:solidFill>
              </a:rPr>
              <a:t>Analysis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77092" y="6565392"/>
            <a:ext cx="16459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Strategy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96164" y="6565392"/>
            <a:ext cx="16459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C00000"/>
                </a:solidFill>
              </a:rPr>
              <a:t>Implementation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615236" y="6565392"/>
            <a:ext cx="16459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Impact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96164" y="6766559"/>
            <a:ext cx="1645920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9648508" y="749808"/>
            <a:ext cx="246888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9648508" y="749808"/>
            <a:ext cx="2468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Key Considerations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48508" y="1097279"/>
            <a:ext cx="2468880" cy="499127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694228" y="11338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0000"/>
                </a:solidFill>
              </a:rPr>
              <a:t>Profit Stabilizing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707944" y="1352413"/>
            <a:ext cx="237744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dirty="0">
                <a:solidFill>
                  <a:srgbClr val="1A1A1A"/>
                </a:solidFill>
              </a:rPr>
              <a:t>All of Lithuania's retrofitted power was acquired due to its </a:t>
            </a:r>
            <a:r>
              <a:rPr sz="800" b="1" dirty="0">
                <a:solidFill>
                  <a:srgbClr val="1A1A1A"/>
                </a:solidFill>
              </a:rPr>
              <a:t>high profitability ratio strategic first-mover advantage</a:t>
            </a:r>
            <a:r>
              <a:rPr sz="800" dirty="0">
                <a:solidFill>
                  <a:srgbClr val="1A1A1A"/>
                </a:solidFill>
              </a:rPr>
              <a:t>, and profit stabilizing the poor performance of existing farms</a:t>
            </a:r>
          </a:p>
          <a:p>
            <a:pPr algn="l"/>
            <a:r>
              <a:rPr sz="800" b="1" dirty="0">
                <a:solidFill>
                  <a:srgbClr val="1A1A1A"/>
                </a:solidFill>
              </a:rPr>
              <a:t>
Remaining funds were invested in Denmark</a:t>
            </a:r>
            <a:r>
              <a:rPr sz="800" dirty="0">
                <a:solidFill>
                  <a:srgbClr val="1A1A1A"/>
                </a:solidFill>
              </a:rPr>
              <a:t> to </a:t>
            </a:r>
            <a:r>
              <a:rPr sz="800" b="1" dirty="0">
                <a:solidFill>
                  <a:srgbClr val="1A1A1A"/>
                </a:solidFill>
              </a:rPr>
              <a:t>improve profit margins</a:t>
            </a:r>
            <a:r>
              <a:rPr sz="800" dirty="0">
                <a:solidFill>
                  <a:srgbClr val="1A1A1A"/>
                </a:solidFill>
              </a:rPr>
              <a:t> (20% of energy generated contributed only 4% of revenue), strengthening </a:t>
            </a:r>
            <a:r>
              <a:rPr sz="800" b="1" dirty="0">
                <a:solidFill>
                  <a:srgbClr val="1A1A1A"/>
                </a:solidFill>
              </a:rPr>
              <a:t>domestic profitability</a:t>
            </a:r>
            <a:r>
              <a:rPr sz="800" dirty="0">
                <a:solidFill>
                  <a:srgbClr val="1A1A1A"/>
                </a:solidFill>
              </a:rPr>
              <a:t>. Rapid </a:t>
            </a:r>
            <a:r>
              <a:rPr sz="800" b="1" dirty="0">
                <a:solidFill>
                  <a:srgbClr val="1A1A1A"/>
                </a:solidFill>
              </a:rPr>
              <a:t>operational improvements</a:t>
            </a:r>
            <a:r>
              <a:rPr sz="800" dirty="0">
                <a:solidFill>
                  <a:srgbClr val="1A1A1A"/>
                </a:solidFill>
              </a:rPr>
              <a:t> could position the business well for a </a:t>
            </a:r>
            <a:r>
              <a:rPr sz="800" b="1" dirty="0">
                <a:solidFill>
                  <a:srgbClr val="1A1A1A"/>
                </a:solidFill>
              </a:rPr>
              <a:t>future IPO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9739948" y="2633472"/>
            <a:ext cx="2286000" cy="0"/>
          </a:xfrm>
          <a:prstGeom prst="line">
            <a:avLst/>
          </a:prstGeom>
          <a:ln w="63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9707944" y="43251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dirty="0">
                <a:solidFill>
                  <a:srgbClr val="C00000"/>
                </a:solidFill>
              </a:rPr>
              <a:t>Expansion Plan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94228" y="4575338"/>
            <a:ext cx="23774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1A1A1A"/>
                </a:solidFill>
              </a:rPr>
              <a:t>Expansion into Australia followed</a:t>
            </a:r>
            <a:r>
              <a:rPr sz="800" dirty="0">
                <a:solidFill>
                  <a:srgbClr val="1A1A1A"/>
                </a:solidFill>
              </a:rPr>
              <a:t>, driven by the high profitability of retrofitted projects and strong macro tailwinds</a:t>
            </a:r>
          </a:p>
          <a:p>
            <a:pPr algn="l"/>
            <a:r>
              <a:rPr sz="800" b="1" dirty="0">
                <a:solidFill>
                  <a:srgbClr val="1A1A1A"/>
                </a:solidFill>
              </a:rPr>
              <a:t>
Remaining capital was invested in Germany's standalone and tolling operations</a:t>
            </a:r>
            <a:r>
              <a:rPr sz="800" dirty="0">
                <a:solidFill>
                  <a:srgbClr val="1A1A1A"/>
                </a:solidFill>
              </a:rPr>
              <a:t> to enhance portfolio diversification, with attractive M&amp;A valuations supporting potential high-margin SPV sales</a:t>
            </a:r>
          </a:p>
        </p:txBody>
      </p:sp>
      <p:pic>
        <p:nvPicPr>
          <p:cNvPr id="104" name="图形 54">
            <a:extLst>
              <a:ext uri="{FF2B5EF4-FFF2-40B4-BE49-F238E27FC236}">
                <a16:creationId xmlns:a16="http://schemas.microsoft.com/office/drawing/2014/main" id="{E3C18056-164C-CB0A-C341-E6D330148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066882" y="6545549"/>
            <a:ext cx="762838" cy="203586"/>
          </a:xfrm>
          <a:prstGeom prst="rect">
            <a:avLst/>
          </a:prstGeom>
        </p:spPr>
      </p:pic>
      <p:sp>
        <p:nvSpPr>
          <p:cNvPr id="105" name="文本框 5">
            <a:extLst>
              <a:ext uri="{FF2B5EF4-FFF2-40B4-BE49-F238E27FC236}">
                <a16:creationId xmlns:a16="http://schemas.microsoft.com/office/drawing/2014/main" id="{FDC43BBD-4A05-1C4C-FCB2-19BD11931A74}"/>
              </a:ext>
            </a:extLst>
          </p:cNvPr>
          <p:cNvSpPr txBox="1"/>
          <p:nvPr/>
        </p:nvSpPr>
        <p:spPr>
          <a:xfrm>
            <a:off x="11284640" y="6472164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7">
      <a:dk1>
        <a:srgbClr val="131312"/>
      </a:dk1>
      <a:lt1>
        <a:srgbClr val="FFFFFF"/>
      </a:lt1>
      <a:dk2>
        <a:srgbClr val="CC0000"/>
      </a:dk2>
      <a:lt2>
        <a:srgbClr val="FFEEEE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91DE601F-B7A8-924F-B134-54C42D7F4152}">
  <we:reference id="wa200005566" version="3.0.0.2" store="zh-CN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944C907-A97A-BB44-B28C-C528CE1366E1}">
  <we:reference id="wa104381909" version="3.14.0.0" store="en-US" storeType="OMEX"/>
  <we:alternateReferences>
    <we:reference id="WA104381909" version="3.14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3001</TotalTime>
  <Words>1085</Words>
  <Application>Microsoft Macintosh PowerPoint</Application>
  <PresentationFormat>Widescreen</PresentationFormat>
  <Paragraphs>183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等线</vt:lpstr>
      <vt:lpstr>Aptos</vt:lpstr>
      <vt:lpstr>Aptos Display</vt:lpstr>
      <vt:lpstr>Aptos Narrow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Tse</dc:creator>
  <cp:lastModifiedBy>Xue, Yiyi</cp:lastModifiedBy>
  <cp:revision>5</cp:revision>
  <dcterms:created xsi:type="dcterms:W3CDTF">2026-04-22T14:08:10Z</dcterms:created>
  <dcterms:modified xsi:type="dcterms:W3CDTF">2026-04-25T04:43:45Z</dcterms:modified>
</cp:coreProperties>
</file>