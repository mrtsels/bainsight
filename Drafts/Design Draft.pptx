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6" r:id="rId1"/>
  </p:sldMasterIdLst>
  <p:notesMasterIdLst>
    <p:notesMasterId r:id="rId7"/>
  </p:notesMasterIdLst>
  <p:sldIdLst>
    <p:sldId id="256" r:id="rId2"/>
    <p:sldId id="260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88"/>
    <p:restoredTop sz="94670"/>
  </p:normalViewPr>
  <p:slideViewPr>
    <p:cSldViewPr snapToGrid="0">
      <p:cViewPr varScale="1">
        <p:scale>
          <a:sx n="117" d="100"/>
          <a:sy n="117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146174-E007-4443-AA94-7AEBB96592B4}" type="datetimeFigureOut">
              <a:rPr kumimoji="1" lang="zh-CN" altLang="en-US" smtClean="0"/>
              <a:t>2026/4/23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7C5D3-9599-C14E-9FB9-F6E331DD55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1843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7C5D3-9599-C14E-9FB9-F6E331DD554C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99777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7C5D3-9599-C14E-9FB9-F6E331DD554C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5501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7C5D3-9599-C14E-9FB9-F6E331DD554C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30483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C2ED-54A4-480D-B5C8-65C0D62359B9}" type="datetime2">
              <a:rPr lang="en-US" smtClean="0"/>
              <a:pPr/>
              <a:t>Thursday, April 23,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200"/>
              <a:t>Sample Footer Text</a:t>
            </a:r>
            <a:endParaRPr lang="en-US" spc="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9796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C2ED-54A4-480D-B5C8-65C0D62359B9}" type="datetime2">
              <a:rPr lang="en-US" smtClean="0"/>
              <a:pPr/>
              <a:t>Thursday, April 23,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200"/>
              <a:t>Sample Footer Text</a:t>
            </a:r>
            <a:endParaRPr lang="en-US" spc="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969705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C2ED-54A4-480D-B5C8-65C0D62359B9}" type="datetime2">
              <a:rPr lang="en-US" smtClean="0"/>
              <a:pPr/>
              <a:t>Thursday, April 23,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200"/>
              <a:t>Sample Footer Text</a:t>
            </a:r>
            <a:endParaRPr lang="en-US" spc="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25075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C2ED-54A4-480D-B5C8-65C0D62359B9}" type="datetime2">
              <a:rPr lang="en-US" smtClean="0"/>
              <a:pPr/>
              <a:t>Thursday, April 23,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200"/>
              <a:t>Sample Footer Text</a:t>
            </a:r>
            <a:endParaRPr lang="en-US" spc="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25185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C2ED-54A4-480D-B5C8-65C0D62359B9}" type="datetime2">
              <a:rPr lang="en-US" smtClean="0"/>
              <a:pPr/>
              <a:t>Thursday, April 23, 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200"/>
              <a:t>Sample Footer Text</a:t>
            </a:r>
            <a:endParaRPr lang="en-US" spc="20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91354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C2ED-54A4-480D-B5C8-65C0D62359B9}" type="datetime2">
              <a:rPr lang="en-US" smtClean="0"/>
              <a:pPr/>
              <a:t>Thursday, April 23, 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200"/>
              <a:t>Sample Footer Text</a:t>
            </a:r>
            <a:endParaRPr lang="en-US" spc="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22110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C2ED-54A4-480D-B5C8-65C0D62359B9}" type="datetime2">
              <a:rPr lang="en-US" smtClean="0"/>
              <a:pPr/>
              <a:t>Thursday, April 23, 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200"/>
              <a:t>Sample Footer Text</a:t>
            </a:r>
            <a:endParaRPr lang="en-US" spc="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765155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C2ED-54A4-480D-B5C8-65C0D62359B9}" type="datetime2">
              <a:rPr lang="en-US" smtClean="0"/>
              <a:pPr/>
              <a:t>Thursday, April 23,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200"/>
              <a:t>Sample Footer Text</a:t>
            </a:r>
            <a:endParaRPr lang="en-US" spc="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6433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C2ED-54A4-480D-B5C8-65C0D62359B9}" type="datetime2">
              <a:rPr lang="en-US" smtClean="0"/>
              <a:pPr/>
              <a:t>Thursday, April 23, 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200"/>
              <a:t>Sample Footer Text</a:t>
            </a:r>
            <a:endParaRPr lang="en-US" spc="2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59686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C2ED-54A4-480D-B5C8-65C0D62359B9}" type="datetime2">
              <a:rPr lang="en-US" smtClean="0"/>
              <a:pPr/>
              <a:t>Thursday, April 23,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200"/>
              <a:t>Sample Footer Text</a:t>
            </a:r>
            <a:endParaRPr lang="en-US" spc="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8694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56C2ED-54A4-480D-B5C8-65C0D62359B9}" type="datetime2">
              <a:rPr lang="en-US" smtClean="0"/>
              <a:pPr/>
              <a:t>Thursday, April 23,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pc="200"/>
              <a:t>Sample Footer Text</a:t>
            </a:r>
            <a:endParaRPr lang="en-US" spc="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18921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Thursday, April 23,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spc="200"/>
              <a:t>Sample Footer Text</a:t>
            </a:r>
            <a:endParaRPr lang="en-US" spc="2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496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矩形 91">
            <a:extLst>
              <a:ext uri="{FF2B5EF4-FFF2-40B4-BE49-F238E27FC236}">
                <a16:creationId xmlns:a16="http://schemas.microsoft.com/office/drawing/2014/main" id="{8867E2AE-94E7-1A73-6E90-690A565127A1}"/>
              </a:ext>
            </a:extLst>
          </p:cNvPr>
          <p:cNvSpPr/>
          <p:nvPr/>
        </p:nvSpPr>
        <p:spPr>
          <a:xfrm>
            <a:off x="345486" y="2133920"/>
            <a:ext cx="4093812" cy="203574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DB9CA48A-455E-EAA4-A5E3-A646AC47B8F4}"/>
              </a:ext>
            </a:extLst>
          </p:cNvPr>
          <p:cNvSpPr txBox="1"/>
          <p:nvPr/>
        </p:nvSpPr>
        <p:spPr>
          <a:xfrm>
            <a:off x="606903" y="2133920"/>
            <a:ext cx="14109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Key Priorities</a:t>
            </a:r>
            <a:endParaRPr kumimoji="1" lang="zh-CN" altLang="en-US" sz="1600" b="1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184108D-D9E5-2FFA-EABB-0B4A6E95160C}"/>
              </a:ext>
            </a:extLst>
          </p:cNvPr>
          <p:cNvSpPr txBox="1"/>
          <p:nvPr/>
        </p:nvSpPr>
        <p:spPr>
          <a:xfrm>
            <a:off x="244988" y="66891"/>
            <a:ext cx="11601521" cy="7592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kumimoji="1" lang="en-US" altLang="zh-CN" sz="2400" b="1" dirty="0">
                <a:latin typeface="Aptos Narrow" panose="020B0004020202020204" pitchFamily="34" charset="0"/>
                <a:ea typeface="Palatino" pitchFamily="2" charset="0"/>
                <a:cs typeface="Mongolian Baiti" panose="03000500000000000000" pitchFamily="66" charset="0"/>
              </a:rPr>
              <a:t>Summary: Drive Fruit Co. growth through store expansion, supply chain optimization, product diversification, and improved purchasing experience (Aptos Narrow, Bold, 20pt)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E397D437-4E52-D22D-6B27-72E8C793A13C}"/>
              </a:ext>
            </a:extLst>
          </p:cNvPr>
          <p:cNvSpPr/>
          <p:nvPr/>
        </p:nvSpPr>
        <p:spPr>
          <a:xfrm>
            <a:off x="345489" y="1076700"/>
            <a:ext cx="2012699" cy="282437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/>
              <a:t>Optimizing Returns</a:t>
            </a:r>
            <a:endParaRPr kumimoji="1" lang="zh-CN" altLang="en-US" sz="1600" b="1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9E0164F-8AEF-E13C-5944-82136D1891B0}"/>
              </a:ext>
            </a:extLst>
          </p:cNvPr>
          <p:cNvSpPr/>
          <p:nvPr/>
        </p:nvSpPr>
        <p:spPr>
          <a:xfrm>
            <a:off x="345488" y="1356860"/>
            <a:ext cx="11501023" cy="61253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1" lang="en-US" altLang="zh-CN" sz="1400" dirty="0">
                <a:solidFill>
                  <a:schemeClr val="tx1"/>
                </a:solidFill>
              </a:rPr>
              <a:t>Restructure merchant projects to stabilize cash flows while expanding EE’s global BESS network in high-return markets. Convert German standalone tolling projects to drive equity growth. Portfolio equity allocations optimized via </a:t>
            </a:r>
            <a:r>
              <a:rPr kumimoji="1" lang="en-US" altLang="zh-CN" sz="1400" b="1" dirty="0">
                <a:solidFill>
                  <a:schemeClr val="tx1"/>
                </a:solidFill>
              </a:rPr>
              <a:t>Mixed-Integer Linear Programming. </a:t>
            </a:r>
            <a:r>
              <a:rPr kumimoji="1" lang="en-US" altLang="zh-CN" sz="1400" dirty="0">
                <a:solidFill>
                  <a:schemeClr val="tx1"/>
                </a:solidFill>
              </a:rPr>
              <a:t>(Aptos, Regular, 14pt)</a:t>
            </a:r>
            <a:endParaRPr kumimoji="1" lang="en-US" altLang="zh-CN" sz="1400" b="1" dirty="0">
              <a:solidFill>
                <a:schemeClr val="tx1"/>
              </a:solidFill>
            </a:endParaRPr>
          </a:p>
        </p:txBody>
      </p:sp>
      <p:cxnSp>
        <p:nvCxnSpPr>
          <p:cNvPr id="38" name="直线连接符 37">
            <a:extLst>
              <a:ext uri="{FF2B5EF4-FFF2-40B4-BE49-F238E27FC236}">
                <a16:creationId xmlns:a16="http://schemas.microsoft.com/office/drawing/2014/main" id="{02F3A8E7-106F-591D-F7DE-2793A8B3EA7F}"/>
              </a:ext>
            </a:extLst>
          </p:cNvPr>
          <p:cNvCxnSpPr/>
          <p:nvPr/>
        </p:nvCxnSpPr>
        <p:spPr>
          <a:xfrm flipV="1">
            <a:off x="6714917" y="3579095"/>
            <a:ext cx="0" cy="265626"/>
          </a:xfrm>
          <a:prstGeom prst="line">
            <a:avLst/>
          </a:prstGeom>
          <a:ln w="31750" cap="sq">
            <a:solidFill>
              <a:schemeClr val="tx2"/>
            </a:solidFill>
            <a:miter lim="800000"/>
            <a:tailEnd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A2AA58F1-8C5F-12B1-E566-EF8BAB04F2C1}"/>
              </a:ext>
            </a:extLst>
          </p:cNvPr>
          <p:cNvCxnSpPr/>
          <p:nvPr/>
        </p:nvCxnSpPr>
        <p:spPr>
          <a:xfrm>
            <a:off x="6714917" y="3579095"/>
            <a:ext cx="1140643" cy="0"/>
          </a:xfrm>
          <a:prstGeom prst="line">
            <a:avLst/>
          </a:prstGeom>
          <a:ln w="31750" cap="sq">
            <a:solidFill>
              <a:schemeClr val="tx2"/>
            </a:solidFill>
            <a:miter lim="800000"/>
            <a:tailEnd type="oval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46B1B25C-4B10-DFA5-113C-8B8F249419B4}"/>
              </a:ext>
            </a:extLst>
          </p:cNvPr>
          <p:cNvSpPr txBox="1"/>
          <p:nvPr/>
        </p:nvSpPr>
        <p:spPr>
          <a:xfrm>
            <a:off x="7960311" y="3406744"/>
            <a:ext cx="24510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600" b="1" dirty="0">
                <a:solidFill>
                  <a:schemeClr val="tx2"/>
                </a:solidFill>
              </a:rPr>
              <a:t>Lithuania – €37.1Mn Y1 </a:t>
            </a:r>
            <a:endParaRPr lang="zh-CN" altLang="en-US" sz="1600" dirty="0">
              <a:solidFill>
                <a:schemeClr val="tx2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D990F21-74EB-8B63-9610-E9B956354BE9}"/>
              </a:ext>
            </a:extLst>
          </p:cNvPr>
          <p:cNvSpPr txBox="1"/>
          <p:nvPr/>
        </p:nvSpPr>
        <p:spPr>
          <a:xfrm>
            <a:off x="7960311" y="3706953"/>
            <a:ext cx="388619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/>
              <a:t>Adopt short development cycles to keep pace with rapidly evolving battery tech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/>
              <a:t>Slash costs with 30% CAPEX grants</a:t>
            </a:r>
            <a:endParaRPr kumimoji="1" lang="zh-CN" altLang="en-US" sz="1400" dirty="0"/>
          </a:p>
        </p:txBody>
      </p:sp>
      <p:cxnSp>
        <p:nvCxnSpPr>
          <p:cNvPr id="58" name="直线连接符 57">
            <a:extLst>
              <a:ext uri="{FF2B5EF4-FFF2-40B4-BE49-F238E27FC236}">
                <a16:creationId xmlns:a16="http://schemas.microsoft.com/office/drawing/2014/main" id="{4CC9D08D-A330-065D-B982-D792D996573E}"/>
              </a:ext>
            </a:extLst>
          </p:cNvPr>
          <p:cNvCxnSpPr>
            <a:cxnSpLocks/>
          </p:cNvCxnSpPr>
          <p:nvPr/>
        </p:nvCxnSpPr>
        <p:spPr>
          <a:xfrm>
            <a:off x="345486" y="872723"/>
            <a:ext cx="1150102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1" name="图形 60">
            <a:extLst>
              <a:ext uri="{FF2B5EF4-FFF2-40B4-BE49-F238E27FC236}">
                <a16:creationId xmlns:a16="http://schemas.microsoft.com/office/drawing/2014/main" id="{CD67FE52-B21D-D467-FA8C-18471F8E33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888462" y="6534398"/>
            <a:ext cx="762838" cy="203586"/>
          </a:xfrm>
          <a:prstGeom prst="rect">
            <a:avLst/>
          </a:prstGeom>
        </p:spPr>
      </p:pic>
      <p:sp>
        <p:nvSpPr>
          <p:cNvPr id="63" name="矩形 62">
            <a:extLst>
              <a:ext uri="{FF2B5EF4-FFF2-40B4-BE49-F238E27FC236}">
                <a16:creationId xmlns:a16="http://schemas.microsoft.com/office/drawing/2014/main" id="{B90A9678-3626-3D04-0741-C4A91C87FC69}"/>
              </a:ext>
            </a:extLst>
          </p:cNvPr>
          <p:cNvSpPr/>
          <p:nvPr/>
        </p:nvSpPr>
        <p:spPr>
          <a:xfrm>
            <a:off x="345486" y="4614895"/>
            <a:ext cx="4093812" cy="1694464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kumimoji="1" lang="en-US" altLang="zh-CN" sz="1400" b="1" dirty="0">
                <a:solidFill>
                  <a:schemeClr val="tx1"/>
                </a:solidFill>
              </a:rPr>
              <a:t>Long-Term Value 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/>
                </a:solidFill>
              </a:rPr>
              <a:t>Bridge the value gap between high-output and low-revenue markets via full-chain control</a:t>
            </a:r>
            <a:endParaRPr kumimoji="1" lang="en-US" altLang="zh-CN" sz="1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b="1" dirty="0">
                <a:solidFill>
                  <a:schemeClr val="tx1"/>
                </a:solidFill>
              </a:rPr>
              <a:t>Capital Recycling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/>
                </a:solidFill>
              </a:rPr>
              <a:t>Anchor BESS growth in high-capability markets for reliable expansion</a:t>
            </a:r>
            <a:endParaRPr kumimoji="1" lang="en-US" altLang="zh-CN" sz="1400" b="1" dirty="0">
              <a:solidFill>
                <a:schemeClr val="tx1"/>
              </a:solidFill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3A45F7AD-496A-66BB-C4E3-0CA4FF918069}"/>
              </a:ext>
            </a:extLst>
          </p:cNvPr>
          <p:cNvSpPr txBox="1"/>
          <p:nvPr/>
        </p:nvSpPr>
        <p:spPr>
          <a:xfrm>
            <a:off x="297118" y="6510854"/>
            <a:ext cx="6835202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expert interviews, literature review, analysis (Aptos, Regular, 12pt)</a:t>
            </a:r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E69AE45E-1DE2-4DAB-7FF4-44303F245327}"/>
              </a:ext>
            </a:extLst>
          </p:cNvPr>
          <p:cNvSpPr/>
          <p:nvPr/>
        </p:nvSpPr>
        <p:spPr>
          <a:xfrm>
            <a:off x="345485" y="4332458"/>
            <a:ext cx="4093811" cy="282437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2"/>
                </a:solidFill>
              </a:rPr>
              <a:t>Key Priorities (Aptos, Bold, 16pt)</a:t>
            </a:r>
            <a:endParaRPr kumimoji="1" lang="zh-CN" altLang="en-US" sz="1600" b="1" dirty="0">
              <a:solidFill>
                <a:schemeClr val="tx2"/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1C5D88F-A049-9DE9-9395-9B6691D6E825}"/>
              </a:ext>
            </a:extLst>
          </p:cNvPr>
          <p:cNvSpPr txBox="1"/>
          <p:nvPr/>
        </p:nvSpPr>
        <p:spPr>
          <a:xfrm>
            <a:off x="11150825" y="6480075"/>
            <a:ext cx="824276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C6A1A2BA-6D83-C443-9823-3CD30E13C10E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7" name="圆角矩形 76">
            <a:extLst>
              <a:ext uri="{FF2B5EF4-FFF2-40B4-BE49-F238E27FC236}">
                <a16:creationId xmlns:a16="http://schemas.microsoft.com/office/drawing/2014/main" id="{BFAE422C-1765-50D1-BEB2-2C81DA15E6BC}"/>
              </a:ext>
            </a:extLst>
          </p:cNvPr>
          <p:cNvSpPr/>
          <p:nvPr/>
        </p:nvSpPr>
        <p:spPr>
          <a:xfrm>
            <a:off x="345486" y="2161979"/>
            <a:ext cx="261417" cy="282437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/>
              <a:t>1</a:t>
            </a:r>
            <a:endParaRPr kumimoji="1" lang="zh-CN" altLang="en-US" sz="1600" b="1" dirty="0"/>
          </a:p>
        </p:txBody>
      </p:sp>
      <p:cxnSp>
        <p:nvCxnSpPr>
          <p:cNvPr id="79" name="直线连接符 78">
            <a:extLst>
              <a:ext uri="{FF2B5EF4-FFF2-40B4-BE49-F238E27FC236}">
                <a16:creationId xmlns:a16="http://schemas.microsoft.com/office/drawing/2014/main" id="{7B9A5B20-BEFA-0ADD-2D2A-70ED7D6302C9}"/>
              </a:ext>
            </a:extLst>
          </p:cNvPr>
          <p:cNvCxnSpPr>
            <a:cxnSpLocks/>
          </p:cNvCxnSpPr>
          <p:nvPr/>
        </p:nvCxnSpPr>
        <p:spPr>
          <a:xfrm>
            <a:off x="345486" y="2444416"/>
            <a:ext cx="409381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746FE38C-0400-C837-CAC2-BBFE1F7867E4}"/>
              </a:ext>
            </a:extLst>
          </p:cNvPr>
          <p:cNvSpPr/>
          <p:nvPr/>
        </p:nvSpPr>
        <p:spPr>
          <a:xfrm>
            <a:off x="5137950" y="4993701"/>
            <a:ext cx="6708559" cy="8854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kumimoji="1" lang="en-US" altLang="zh-CN" sz="1400" b="1" dirty="0">
                <a:solidFill>
                  <a:schemeClr val="tx1"/>
                </a:solidFill>
              </a:rPr>
              <a:t>Recommend raising ex-factory prices by CN¥0.25–0.30 per bottle for Genki Forest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/>
                </a:solidFill>
              </a:rPr>
              <a:t>Retail prices could rise CN¥0.30–0.50 per bottle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/>
                </a:solidFill>
              </a:rPr>
              <a:t>Implementation risks and mitigations identified</a:t>
            </a: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817810EC-0260-F8DA-5AAE-82784865A6B5}"/>
              </a:ext>
            </a:extLst>
          </p:cNvPr>
          <p:cNvSpPr txBox="1"/>
          <p:nvPr/>
        </p:nvSpPr>
        <p:spPr>
          <a:xfrm>
            <a:off x="5401327" y="4445617"/>
            <a:ext cx="57123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Existing customers show relatively lower price sensitivity</a:t>
            </a:r>
            <a:endParaRPr kumimoji="1" lang="zh-CN" altLang="en-US" sz="1600" b="1" dirty="0"/>
          </a:p>
        </p:txBody>
      </p: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60904E53-D94C-507F-8CAF-55E868BA4139}"/>
              </a:ext>
            </a:extLst>
          </p:cNvPr>
          <p:cNvSpPr/>
          <p:nvPr/>
        </p:nvSpPr>
        <p:spPr>
          <a:xfrm>
            <a:off x="5139910" y="4473676"/>
            <a:ext cx="261417" cy="282437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/>
              <a:t>3</a:t>
            </a:r>
            <a:endParaRPr kumimoji="1" lang="zh-CN" altLang="en-US" sz="1600" b="1" dirty="0"/>
          </a:p>
        </p:txBody>
      </p: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90C26054-AA2D-AD8B-BC84-E6DEC9B17FA7}"/>
              </a:ext>
            </a:extLst>
          </p:cNvPr>
          <p:cNvCxnSpPr>
            <a:cxnSpLocks/>
          </p:cNvCxnSpPr>
          <p:nvPr/>
        </p:nvCxnSpPr>
        <p:spPr>
          <a:xfrm>
            <a:off x="5139910" y="4756113"/>
            <a:ext cx="670855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矩形 92">
            <a:extLst>
              <a:ext uri="{FF2B5EF4-FFF2-40B4-BE49-F238E27FC236}">
                <a16:creationId xmlns:a16="http://schemas.microsoft.com/office/drawing/2014/main" id="{EFCC0494-57AE-3F1D-B961-E866DE11BFD4}"/>
              </a:ext>
            </a:extLst>
          </p:cNvPr>
          <p:cNvSpPr/>
          <p:nvPr/>
        </p:nvSpPr>
        <p:spPr>
          <a:xfrm>
            <a:off x="345486" y="2472474"/>
            <a:ext cx="4093812" cy="16944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kumimoji="1" lang="en-US" altLang="zh-CN" sz="1400" b="1" dirty="0">
                <a:solidFill>
                  <a:schemeClr val="tx1"/>
                </a:solidFill>
              </a:rPr>
              <a:t>Long-Term Value 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/>
                </a:solidFill>
              </a:rPr>
              <a:t>Bridge the value gap between high-output and low-revenue markets via full-chain control</a:t>
            </a:r>
            <a:endParaRPr kumimoji="1" lang="en-US" altLang="zh-CN" sz="1400" b="1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400" b="1" dirty="0">
                <a:solidFill>
                  <a:schemeClr val="tx1"/>
                </a:solidFill>
              </a:rPr>
              <a:t>Capital Recycling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/>
                </a:solidFill>
              </a:rPr>
              <a:t>Anchor BESS growth in high-capability markets for reliable expansion</a:t>
            </a:r>
            <a:endParaRPr kumimoji="1" lang="en-US" altLang="zh-CN" sz="1400" b="1" dirty="0">
              <a:solidFill>
                <a:schemeClr val="tx1"/>
              </a:solidFill>
            </a:endParaRP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D87E5DB-4BA9-9EE5-E538-E0378538C1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68625"/>
              </p:ext>
            </p:extLst>
          </p:nvPr>
        </p:nvGraphicFramePr>
        <p:xfrm>
          <a:off x="5137949" y="2133920"/>
          <a:ext cx="6708560" cy="117162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tableStyleId>{5C22544A-7EE6-4342-B048-85BDC9FD1C3A}</a:tableStyleId>
              </a:tblPr>
              <a:tblGrid>
                <a:gridCol w="1677140">
                  <a:extLst>
                    <a:ext uri="{9D8B030D-6E8A-4147-A177-3AD203B41FA5}">
                      <a16:colId xmlns:a16="http://schemas.microsoft.com/office/drawing/2014/main" val="4112203043"/>
                    </a:ext>
                  </a:extLst>
                </a:gridCol>
                <a:gridCol w="1677140">
                  <a:extLst>
                    <a:ext uri="{9D8B030D-6E8A-4147-A177-3AD203B41FA5}">
                      <a16:colId xmlns:a16="http://schemas.microsoft.com/office/drawing/2014/main" val="31620956"/>
                    </a:ext>
                  </a:extLst>
                </a:gridCol>
                <a:gridCol w="1677140">
                  <a:extLst>
                    <a:ext uri="{9D8B030D-6E8A-4147-A177-3AD203B41FA5}">
                      <a16:colId xmlns:a16="http://schemas.microsoft.com/office/drawing/2014/main" val="1434327199"/>
                    </a:ext>
                  </a:extLst>
                </a:gridCol>
                <a:gridCol w="1677140">
                  <a:extLst>
                    <a:ext uri="{9D8B030D-6E8A-4147-A177-3AD203B41FA5}">
                      <a16:colId xmlns:a16="http://schemas.microsoft.com/office/drawing/2014/main" val="1262303234"/>
                    </a:ext>
                  </a:extLst>
                </a:gridCol>
              </a:tblGrid>
              <a:tr h="325501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2"/>
                          </a:solidFill>
                        </a:rPr>
                        <a:t>Year</a:t>
                      </a:r>
                      <a:endParaRPr lang="zh-CN" altLang="en-US" sz="1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2"/>
                          </a:solidFill>
                        </a:rPr>
                        <a:t>Mkt Size</a:t>
                      </a:r>
                      <a:endParaRPr lang="zh-CN" altLang="en-US" sz="1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2"/>
                          </a:solidFill>
                        </a:rPr>
                        <a:t>Fut Mkt Size</a:t>
                      </a:r>
                      <a:endParaRPr lang="zh-CN" altLang="en-US" sz="1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2"/>
                          </a:solidFill>
                        </a:rPr>
                        <a:t>Item 4</a:t>
                      </a:r>
                      <a:endParaRPr lang="zh-CN" altLang="en-US" sz="1600" dirty="0">
                        <a:solidFill>
                          <a:schemeClr val="tx2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1864886"/>
                  </a:ext>
                </a:extLst>
              </a:tr>
              <a:tr h="4181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2020</a:t>
                      </a:r>
                      <a:endParaRPr lang="zh-CN" altLang="en-US" sz="1600" dirty="0"/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$61Bn</a:t>
                      </a:r>
                      <a:endParaRPr lang="zh-CN" altLang="en-US" sz="1600"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4997956"/>
                  </a:ext>
                </a:extLst>
              </a:tr>
              <a:tr h="4181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2030</a:t>
                      </a:r>
                      <a:endParaRPr lang="zh-CN" altLang="en-US" sz="1600" dirty="0"/>
                    </a:p>
                  </a:txBody>
                  <a:tcPr anchor="ctr">
                    <a:lnL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$115Bn</a:t>
                      </a:r>
                      <a:endParaRPr lang="zh-CN" altLang="en-US" sz="1600"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778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2414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矩形 44">
            <a:extLst>
              <a:ext uri="{FF2B5EF4-FFF2-40B4-BE49-F238E27FC236}">
                <a16:creationId xmlns:a16="http://schemas.microsoft.com/office/drawing/2014/main" id="{44BAB7D2-5269-E0B2-1A7F-AC2AEE973D8F}"/>
              </a:ext>
            </a:extLst>
          </p:cNvPr>
          <p:cNvSpPr/>
          <p:nvPr/>
        </p:nvSpPr>
        <p:spPr>
          <a:xfrm>
            <a:off x="5376256" y="4247999"/>
            <a:ext cx="6470253" cy="140978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kumimoji="1" lang="en-US" altLang="zh-CN" dirty="0">
                <a:solidFill>
                  <a:schemeClr val="tx1"/>
                </a:solidFill>
              </a:rPr>
              <a:t>Yada pension actively fulfills its social responsibility and pays attention to social welfare and elderly’s health security. Yada should implement strategies to reach a broader population and meet diverse needs.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390F5CD-2D12-B0EA-A28D-DFA77A11A421}"/>
              </a:ext>
            </a:extLst>
          </p:cNvPr>
          <p:cNvSpPr/>
          <p:nvPr/>
        </p:nvSpPr>
        <p:spPr>
          <a:xfrm>
            <a:off x="5376255" y="1704826"/>
            <a:ext cx="3480306" cy="228043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b="1" dirty="0">
                <a:solidFill>
                  <a:schemeClr val="tx1"/>
                </a:solidFill>
              </a:rPr>
              <a:t>Customer Segmentation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</a:rPr>
              <a:t>Shanghai, the Pilot Region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</a:rPr>
              <a:t>Private Service at Home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</a:rPr>
              <a:t>Intelligent Community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</a:rPr>
              <a:t>Mid-class Living at Home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</a:rPr>
              <a:t>Normal Community Service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C6E184D-B6AF-A51F-DD1D-8814D2A75483}"/>
              </a:ext>
            </a:extLst>
          </p:cNvPr>
          <p:cNvSpPr txBox="1"/>
          <p:nvPr/>
        </p:nvSpPr>
        <p:spPr>
          <a:xfrm>
            <a:off x="244988" y="31016"/>
            <a:ext cx="10063933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latin typeface="Aptos Narrow" panose="020B0004020202020204" pitchFamily="34" charset="0"/>
                <a:ea typeface="Palatino" pitchFamily="2" charset="0"/>
                <a:cs typeface="Mongolian Baiti" panose="03000500000000000000" pitchFamily="66" charset="0"/>
              </a:rPr>
              <a:t>Summary: Yada’s development strategy in China incorporates multi-level senior care patterns and more customized services</a:t>
            </a: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1C2E6875-BDC9-7937-44EE-CED172999E2A}"/>
              </a:ext>
            </a:extLst>
          </p:cNvPr>
          <p:cNvCxnSpPr>
            <a:cxnSpLocks/>
          </p:cNvCxnSpPr>
          <p:nvPr/>
        </p:nvCxnSpPr>
        <p:spPr>
          <a:xfrm>
            <a:off x="345486" y="872723"/>
            <a:ext cx="1150102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6CF8E0F5-53A8-78A4-5C93-7B8BDAE3B77D}"/>
              </a:ext>
            </a:extLst>
          </p:cNvPr>
          <p:cNvSpPr txBox="1"/>
          <p:nvPr/>
        </p:nvSpPr>
        <p:spPr>
          <a:xfrm>
            <a:off x="2003918" y="1101671"/>
            <a:ext cx="995081" cy="40011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kumimoji="1" lang="en-US" altLang="zh-CN" sz="2000" b="1" dirty="0"/>
              <a:t>Market</a:t>
            </a:r>
            <a:endParaRPr kumimoji="1" lang="zh-CN" altLang="en-US" sz="2000" b="1" dirty="0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49C69077-E220-8815-E6AA-EECB2FB396C5}"/>
              </a:ext>
            </a:extLst>
          </p:cNvPr>
          <p:cNvCxnSpPr>
            <a:cxnSpLocks/>
          </p:cNvCxnSpPr>
          <p:nvPr/>
        </p:nvCxnSpPr>
        <p:spPr>
          <a:xfrm>
            <a:off x="2008094" y="1501781"/>
            <a:ext cx="3122706" cy="0"/>
          </a:xfrm>
          <a:prstGeom prst="line">
            <a:avLst/>
          </a:prstGeom>
          <a:ln cap="rnd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E19E487E-B744-D685-6A08-5C74C1118186}"/>
              </a:ext>
            </a:extLst>
          </p:cNvPr>
          <p:cNvSpPr/>
          <p:nvPr/>
        </p:nvSpPr>
        <p:spPr>
          <a:xfrm>
            <a:off x="345486" y="1704826"/>
            <a:ext cx="1412976" cy="2280448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2"/>
                </a:solidFill>
              </a:rPr>
              <a:t>Analysis</a:t>
            </a:r>
          </a:p>
          <a:p>
            <a:pPr algn="ctr"/>
            <a:r>
              <a:rPr kumimoji="1" lang="en-US" altLang="zh-CN" sz="1600" b="1" dirty="0">
                <a:solidFill>
                  <a:schemeClr val="tx2"/>
                </a:solidFill>
              </a:rPr>
              <a:t>Dimensions</a:t>
            </a:r>
            <a:endParaRPr kumimoji="1" lang="zh-CN" altLang="en-US" sz="1600" b="1" dirty="0">
              <a:solidFill>
                <a:schemeClr val="tx2"/>
              </a:solidFill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D132D706-B860-FDDC-BFBA-AFB8F7DDF495}"/>
              </a:ext>
            </a:extLst>
          </p:cNvPr>
          <p:cNvSpPr/>
          <p:nvPr/>
        </p:nvSpPr>
        <p:spPr>
          <a:xfrm>
            <a:off x="345486" y="4248001"/>
            <a:ext cx="1412976" cy="140978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2"/>
                </a:solidFill>
              </a:rPr>
              <a:t>Implications</a:t>
            </a:r>
            <a:endParaRPr kumimoji="1" lang="zh-CN" altLang="en-US" sz="1600" b="1" dirty="0">
              <a:solidFill>
                <a:schemeClr val="tx2"/>
              </a:solidFill>
            </a:endParaRP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C88317E2-EF10-7FCA-7D24-C0B5ED67B4B5}"/>
              </a:ext>
            </a:extLst>
          </p:cNvPr>
          <p:cNvCxnSpPr>
            <a:cxnSpLocks/>
          </p:cNvCxnSpPr>
          <p:nvPr/>
        </p:nvCxnSpPr>
        <p:spPr>
          <a:xfrm flipH="1">
            <a:off x="5130800" y="1301726"/>
            <a:ext cx="146154" cy="200055"/>
          </a:xfrm>
          <a:prstGeom prst="line">
            <a:avLst/>
          </a:prstGeom>
          <a:ln cap="rnd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线连接符 23">
            <a:extLst>
              <a:ext uri="{FF2B5EF4-FFF2-40B4-BE49-F238E27FC236}">
                <a16:creationId xmlns:a16="http://schemas.microsoft.com/office/drawing/2014/main" id="{7BBD4D04-BBA4-D611-9313-90509644092F}"/>
              </a:ext>
            </a:extLst>
          </p:cNvPr>
          <p:cNvCxnSpPr>
            <a:cxnSpLocks/>
          </p:cNvCxnSpPr>
          <p:nvPr/>
        </p:nvCxnSpPr>
        <p:spPr>
          <a:xfrm>
            <a:off x="5380688" y="1501781"/>
            <a:ext cx="631591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F16C364A-1B28-3C03-27CB-39CC91F8D4B5}"/>
              </a:ext>
            </a:extLst>
          </p:cNvPr>
          <p:cNvSpPr txBox="1"/>
          <p:nvPr/>
        </p:nvSpPr>
        <p:spPr>
          <a:xfrm>
            <a:off x="5338568" y="1101671"/>
            <a:ext cx="2008883" cy="40011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kumimoji="1" lang="en-US" altLang="zh-CN" sz="2000" b="1" dirty="0"/>
              <a:t>Strategy Design</a:t>
            </a:r>
            <a:endParaRPr kumimoji="1" lang="zh-CN" altLang="en-US" sz="2000" b="1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36C3395-7422-FB8D-5E1B-AA105843C331}"/>
              </a:ext>
            </a:extLst>
          </p:cNvPr>
          <p:cNvSpPr/>
          <p:nvPr/>
        </p:nvSpPr>
        <p:spPr>
          <a:xfrm>
            <a:off x="9102016" y="1704826"/>
            <a:ext cx="2744493" cy="228567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b="1" dirty="0">
                <a:solidFill>
                  <a:schemeClr val="tx1"/>
                </a:solidFill>
              </a:rPr>
              <a:t>Business Expansion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</a:rPr>
              <a:t>Financial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</a:rPr>
              <a:t>Investment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</a:rPr>
              <a:t>Law Consultation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</a:rPr>
              <a:t>End-of-life Care</a:t>
            </a:r>
          </a:p>
        </p:txBody>
      </p:sp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B1404906-0873-93BF-2BFF-D6D4AA1673C9}"/>
              </a:ext>
            </a:extLst>
          </p:cNvPr>
          <p:cNvCxnSpPr>
            <a:cxnSpLocks/>
          </p:cNvCxnSpPr>
          <p:nvPr/>
        </p:nvCxnSpPr>
        <p:spPr>
          <a:xfrm>
            <a:off x="5119516" y="1091727"/>
            <a:ext cx="154505" cy="209998"/>
          </a:xfrm>
          <a:prstGeom prst="line">
            <a:avLst/>
          </a:prstGeom>
          <a:ln cap="rnd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D52F9750-F9D9-3123-547B-1636A542B762}"/>
              </a:ext>
            </a:extLst>
          </p:cNvPr>
          <p:cNvCxnSpPr>
            <a:cxnSpLocks/>
          </p:cNvCxnSpPr>
          <p:nvPr/>
        </p:nvCxnSpPr>
        <p:spPr>
          <a:xfrm flipH="1">
            <a:off x="11700783" y="1301726"/>
            <a:ext cx="146154" cy="200055"/>
          </a:xfrm>
          <a:prstGeom prst="line">
            <a:avLst/>
          </a:prstGeom>
          <a:ln cap="rnd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B858C90B-882B-9F0F-E1C6-32A81A3999F1}"/>
              </a:ext>
            </a:extLst>
          </p:cNvPr>
          <p:cNvCxnSpPr>
            <a:cxnSpLocks/>
          </p:cNvCxnSpPr>
          <p:nvPr/>
        </p:nvCxnSpPr>
        <p:spPr>
          <a:xfrm>
            <a:off x="11696607" y="1082253"/>
            <a:ext cx="154505" cy="209998"/>
          </a:xfrm>
          <a:prstGeom prst="line">
            <a:avLst/>
          </a:prstGeom>
          <a:ln cap="rnd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D7EA58E7-1FB5-602C-80D7-AECF5131149E}"/>
              </a:ext>
            </a:extLst>
          </p:cNvPr>
          <p:cNvSpPr/>
          <p:nvPr/>
        </p:nvSpPr>
        <p:spPr>
          <a:xfrm>
            <a:off x="2003918" y="4248001"/>
            <a:ext cx="3126882" cy="1409784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/>
                </a:solidFill>
              </a:rPr>
              <a:t>Yada should capture market trends and meet the increasing demand for elderly care services, as a reputable company. 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48465E15-3D27-AC57-3B36-44A500942880}"/>
              </a:ext>
            </a:extLst>
          </p:cNvPr>
          <p:cNvSpPr/>
          <p:nvPr/>
        </p:nvSpPr>
        <p:spPr>
          <a:xfrm>
            <a:off x="2003918" y="5915287"/>
            <a:ext cx="9842591" cy="400108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Achieve healthy revenue growth in Mainland China senior living &amp; care market</a:t>
            </a:r>
            <a:endParaRPr kumimoji="1" lang="zh-CN" altLang="en-US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F98BE3B-63F5-6F17-7C83-2FB7961EAA1A}"/>
              </a:ext>
            </a:extLst>
          </p:cNvPr>
          <p:cNvSpPr/>
          <p:nvPr/>
        </p:nvSpPr>
        <p:spPr>
          <a:xfrm>
            <a:off x="2003918" y="1704825"/>
            <a:ext cx="3126882" cy="22804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</a:rPr>
              <a:t>Policy Sorting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</a:rPr>
              <a:t>Market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</a:rPr>
              <a:t>Customer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</a:rPr>
              <a:t>Industry Chain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</a:rPr>
              <a:t>Competitive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/>
                </a:solidFill>
              </a:rPr>
              <a:t>Pain Points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pic>
        <p:nvPicPr>
          <p:cNvPr id="55" name="图形 54">
            <a:extLst>
              <a:ext uri="{FF2B5EF4-FFF2-40B4-BE49-F238E27FC236}">
                <a16:creationId xmlns:a16="http://schemas.microsoft.com/office/drawing/2014/main" id="{F4D7DA8E-4E03-A554-6B44-D5C19068CA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888462" y="6534398"/>
            <a:ext cx="762838" cy="203586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96436AE1-1181-444C-84DF-D21DFE98E7DC}"/>
              </a:ext>
            </a:extLst>
          </p:cNvPr>
          <p:cNvSpPr txBox="1"/>
          <p:nvPr/>
        </p:nvSpPr>
        <p:spPr>
          <a:xfrm>
            <a:off x="297118" y="6510854"/>
            <a:ext cx="6835202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expert interviews, literature review, analysis (Aptos, Regular, 12pt)</a:t>
            </a:r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A7811FA-D8C2-5661-9AB4-B07CA1ABE26E}"/>
              </a:ext>
            </a:extLst>
          </p:cNvPr>
          <p:cNvSpPr txBox="1"/>
          <p:nvPr/>
        </p:nvSpPr>
        <p:spPr>
          <a:xfrm>
            <a:off x="11150825" y="6480075"/>
            <a:ext cx="824276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C6A1A2BA-6D83-C443-9823-3CD30E13C10E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35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E1CE934-85F8-0826-B36E-D69350947AEA}"/>
              </a:ext>
            </a:extLst>
          </p:cNvPr>
          <p:cNvSpPr txBox="1"/>
          <p:nvPr/>
        </p:nvSpPr>
        <p:spPr>
          <a:xfrm>
            <a:off x="244988" y="31016"/>
            <a:ext cx="10063933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latin typeface="Aptos Narrow" panose="020B0004020202020204" pitchFamily="34" charset="0"/>
                <a:ea typeface="Palatino" pitchFamily="2" charset="0"/>
                <a:cs typeface="Mongolian Baiti" panose="03000500000000000000" pitchFamily="66" charset="0"/>
              </a:rPr>
              <a:t>Building Long- Term Value in Australia: Co-developing BESS with ongoing Australian solar projects prevents a recurrence of volatility driven weak returns</a:t>
            </a:r>
          </a:p>
        </p:txBody>
      </p:sp>
      <p:cxnSp>
        <p:nvCxnSpPr>
          <p:cNvPr id="5" name="直线连接符 4">
            <a:extLst>
              <a:ext uri="{FF2B5EF4-FFF2-40B4-BE49-F238E27FC236}">
                <a16:creationId xmlns:a16="http://schemas.microsoft.com/office/drawing/2014/main" id="{92DE8C43-F71D-E261-E900-A4AF4124A7CC}"/>
              </a:ext>
            </a:extLst>
          </p:cNvPr>
          <p:cNvCxnSpPr>
            <a:cxnSpLocks/>
          </p:cNvCxnSpPr>
          <p:nvPr/>
        </p:nvCxnSpPr>
        <p:spPr>
          <a:xfrm>
            <a:off x="345486" y="872723"/>
            <a:ext cx="1150102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6BFAE83-F5E5-D2C2-386B-D95345B9B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0228421"/>
              </p:ext>
            </p:extLst>
          </p:nvPr>
        </p:nvGraphicFramePr>
        <p:xfrm>
          <a:off x="345486" y="1150694"/>
          <a:ext cx="5347102" cy="1371600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191766">
                  <a:extLst>
                    <a:ext uri="{9D8B030D-6E8A-4147-A177-3AD203B41FA5}">
                      <a16:colId xmlns:a16="http://schemas.microsoft.com/office/drawing/2014/main" val="505092938"/>
                    </a:ext>
                  </a:extLst>
                </a:gridCol>
                <a:gridCol w="4155336">
                  <a:extLst>
                    <a:ext uri="{9D8B030D-6E8A-4147-A177-3AD203B41FA5}">
                      <a16:colId xmlns:a16="http://schemas.microsoft.com/office/drawing/2014/main" val="2270245355"/>
                    </a:ext>
                  </a:extLst>
                </a:gridCol>
              </a:tblGrid>
              <a:tr h="297153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b="1" i="0" dirty="0">
                          <a:solidFill>
                            <a:schemeClr val="tx2"/>
                          </a:solidFill>
                          <a:latin typeface="Aptos Narrow" panose="020B0004020202020204" pitchFamily="34" charset="0"/>
                        </a:rPr>
                        <a:t>23</a:t>
                      </a:r>
                      <a:r>
                        <a:rPr lang="en-US" altLang="zh-CN" sz="1600" b="1" i="0" dirty="0">
                          <a:solidFill>
                            <a:schemeClr val="tx2"/>
                          </a:solidFill>
                          <a:latin typeface="Aptos Narrow" panose="020B0004020202020204" pitchFamily="34" charset="0"/>
                        </a:rPr>
                        <a:t>%</a:t>
                      </a:r>
                      <a:endParaRPr lang="zh-CN" altLang="en-US" sz="2400" b="1" i="0" dirty="0">
                        <a:solidFill>
                          <a:schemeClr val="tx2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record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high negative price </a:t>
                      </a:r>
                      <a:r>
                        <a:rPr lang="en-US" altLang="zh-CN" sz="1600" b="0" dirty="0">
                          <a:solidFill>
                            <a:schemeClr val="tx1"/>
                          </a:solidFill>
                        </a:rPr>
                        <a:t>dispatch interval</a:t>
                      </a:r>
                      <a:endParaRPr lang="zh-CN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6418244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algn="r"/>
                      <a:r>
                        <a:rPr lang="en-US" altLang="zh-CN" sz="2400" b="1" i="0" dirty="0">
                          <a:solidFill>
                            <a:schemeClr val="tx2"/>
                          </a:solidFill>
                          <a:latin typeface="Aptos Narrow" panose="020B0004020202020204" pitchFamily="34" charset="0"/>
                        </a:rPr>
                        <a:t>10</a:t>
                      </a:r>
                      <a:r>
                        <a:rPr lang="en-US" altLang="zh-CN" sz="1600" b="1" i="0" dirty="0">
                          <a:solidFill>
                            <a:schemeClr val="tx2"/>
                          </a:solidFill>
                          <a:latin typeface="Aptos Narrow" panose="020B0004020202020204" pitchFamily="34" charset="0"/>
                        </a:rPr>
                        <a:t>GW+</a:t>
                      </a:r>
                      <a:endParaRPr lang="zh-CN" altLang="en-US" sz="2400" b="1" i="0" dirty="0">
                        <a:solidFill>
                          <a:schemeClr val="tx2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project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pipeline active 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in Australia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144150"/>
                  </a:ext>
                </a:extLst>
              </a:tr>
              <a:tr h="297153">
                <a:tc>
                  <a:txBody>
                    <a:bodyPr/>
                    <a:lstStyle/>
                    <a:p>
                      <a:pPr algn="r"/>
                      <a:r>
                        <a:rPr lang="en-US" altLang="zh-CN" sz="1600" b="1" i="0" dirty="0">
                          <a:solidFill>
                            <a:schemeClr val="tx2"/>
                          </a:solidFill>
                          <a:latin typeface="Aptos Narrow" panose="020B0004020202020204" pitchFamily="34" charset="0"/>
                        </a:rPr>
                        <a:t>$</a:t>
                      </a:r>
                      <a:r>
                        <a:rPr lang="en-US" altLang="zh-CN" sz="2400" b="1" i="0" dirty="0">
                          <a:solidFill>
                            <a:schemeClr val="tx2"/>
                          </a:solidFill>
                          <a:latin typeface="Aptos Narrow" panose="020B0004020202020204" pitchFamily="34" charset="0"/>
                        </a:rPr>
                        <a:t>13.6</a:t>
                      </a:r>
                      <a:r>
                        <a:rPr lang="en-US" altLang="zh-CN" sz="1600" b="1" i="0" dirty="0">
                          <a:solidFill>
                            <a:schemeClr val="tx2"/>
                          </a:solidFill>
                          <a:latin typeface="Aptos Narrow" panose="020B0004020202020204" pitchFamily="34" charset="0"/>
                        </a:rPr>
                        <a:t>Bn</a:t>
                      </a:r>
                      <a:endParaRPr lang="zh-CN" altLang="en-US" sz="2400" b="1" i="0" dirty="0">
                        <a:solidFill>
                          <a:schemeClr val="tx2"/>
                        </a:solidFill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record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</a:rPr>
                        <a:t>quarterly investment </a:t>
                      </a:r>
                      <a:r>
                        <a:rPr lang="en-US" altLang="zh-CN" sz="1600" dirty="0">
                          <a:solidFill>
                            <a:schemeClr val="tx1"/>
                          </a:solidFill>
                        </a:rPr>
                        <a:t>in BESS</a:t>
                      </a:r>
                      <a:endParaRPr lang="zh-CN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3449463"/>
                  </a:ext>
                </a:extLst>
              </a:tr>
            </a:tbl>
          </a:graphicData>
        </a:graphic>
      </p:graphicFrame>
      <p:sp>
        <p:nvSpPr>
          <p:cNvPr id="12" name="矩形 11">
            <a:extLst>
              <a:ext uri="{FF2B5EF4-FFF2-40B4-BE49-F238E27FC236}">
                <a16:creationId xmlns:a16="http://schemas.microsoft.com/office/drawing/2014/main" id="{F9A12CFF-2053-1A0E-7B5B-9C20C82C2559}"/>
              </a:ext>
            </a:extLst>
          </p:cNvPr>
          <p:cNvSpPr/>
          <p:nvPr/>
        </p:nvSpPr>
        <p:spPr>
          <a:xfrm>
            <a:off x="345486" y="3899687"/>
            <a:ext cx="3713897" cy="926645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/>
                </a:solidFill>
              </a:rPr>
              <a:t>Leverage existing and under-construction and existing projects as anchor sites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/>
                </a:solidFill>
              </a:rPr>
              <a:t>Accelerate time to market as a flexibility trade with merchant offtake agreement</a:t>
            </a:r>
            <a:endParaRPr kumimoji="1" lang="en-US" altLang="zh-CN" sz="1400" b="1" dirty="0">
              <a:solidFill>
                <a:schemeClr val="tx1"/>
              </a:solidFill>
            </a:endParaRPr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78234A61-9194-2290-DA55-FE48C0B4A6C9}"/>
              </a:ext>
            </a:extLst>
          </p:cNvPr>
          <p:cNvSpPr/>
          <p:nvPr/>
        </p:nvSpPr>
        <p:spPr>
          <a:xfrm>
            <a:off x="345486" y="3436501"/>
            <a:ext cx="3713897" cy="464513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kumimoji="1" lang="en-US" altLang="zh-CN" sz="1400" b="1" dirty="0">
                <a:solidFill>
                  <a:schemeClr val="tx2"/>
                </a:solidFill>
              </a:rPr>
              <a:t>Improve Viability in New</a:t>
            </a:r>
            <a:br>
              <a:rPr kumimoji="1" lang="en-US" altLang="zh-CN" sz="1400" b="1" dirty="0">
                <a:solidFill>
                  <a:schemeClr val="tx2"/>
                </a:solidFill>
              </a:rPr>
            </a:br>
            <a:r>
              <a:rPr kumimoji="1" lang="en-US" altLang="zh-CN" sz="1400" b="1" dirty="0">
                <a:solidFill>
                  <a:schemeClr val="tx2"/>
                </a:solidFill>
              </a:rPr>
              <a:t>and Expanding Geography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71654AB-1E63-738F-6188-2B2D9578C25B}"/>
              </a:ext>
            </a:extLst>
          </p:cNvPr>
          <p:cNvSpPr/>
          <p:nvPr/>
        </p:nvSpPr>
        <p:spPr>
          <a:xfrm>
            <a:off x="4238613" y="3896036"/>
            <a:ext cx="3713897" cy="926646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/>
                </a:solidFill>
              </a:rPr>
              <a:t>Co-deploy BESS with ongoing projects to prevent future generation revenue gaps.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/>
                </a:solidFill>
              </a:rPr>
              <a:t>Capture potential inefficiency gains whilst hedging downside</a:t>
            </a:r>
            <a:endParaRPr kumimoji="1" lang="en-US" altLang="zh-CN" sz="1400" b="1" dirty="0">
              <a:solidFill>
                <a:schemeClr val="tx1"/>
              </a:solidFill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3403EC62-5731-3FE5-1137-179FF704109A}"/>
              </a:ext>
            </a:extLst>
          </p:cNvPr>
          <p:cNvSpPr/>
          <p:nvPr/>
        </p:nvSpPr>
        <p:spPr>
          <a:xfrm>
            <a:off x="4243718" y="3618577"/>
            <a:ext cx="3713897" cy="282437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kumimoji="1" lang="en-US" altLang="zh-CN" sz="1400" b="1" dirty="0">
                <a:solidFill>
                  <a:schemeClr val="tx2"/>
                </a:solidFill>
              </a:rPr>
              <a:t>Future Proofing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138092-F4B2-C32E-972A-A181FB876E96}"/>
              </a:ext>
            </a:extLst>
          </p:cNvPr>
          <p:cNvSpPr/>
          <p:nvPr/>
        </p:nvSpPr>
        <p:spPr>
          <a:xfrm>
            <a:off x="8131740" y="3711437"/>
            <a:ext cx="3713897" cy="1120869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/>
                </a:solidFill>
              </a:rPr>
              <a:t>Australia’s NEM exhibits higher trading volatility and structural inefficiencies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/>
                </a:solidFill>
              </a:rPr>
              <a:t>Capture arbitrate revenue during surges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/>
                </a:solidFill>
              </a:rPr>
              <a:t>Utilize machine learning to optimize PPAs and dispatch strategies</a:t>
            </a:r>
            <a:endParaRPr kumimoji="1" lang="en-US" altLang="zh-CN" sz="1400" b="1" dirty="0">
              <a:solidFill>
                <a:schemeClr val="tx1"/>
              </a:solidFill>
            </a:endParaRP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EFBC0108-0B27-AFE1-FC89-55A2928905BA}"/>
              </a:ext>
            </a:extLst>
          </p:cNvPr>
          <p:cNvSpPr/>
          <p:nvPr/>
        </p:nvSpPr>
        <p:spPr>
          <a:xfrm>
            <a:off x="8131740" y="3429000"/>
            <a:ext cx="3713897" cy="282437"/>
          </a:xfrm>
          <a:prstGeom prst="roundRect">
            <a:avLst>
              <a:gd name="adj" fmla="val 0"/>
            </a:avLst>
          </a:prstGeom>
          <a:solidFill>
            <a:schemeClr val="bg2"/>
          </a:solidFill>
          <a:ln w="19050"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kumimoji="1" lang="en-US" altLang="zh-CN" sz="1400" b="1" dirty="0">
                <a:solidFill>
                  <a:schemeClr val="tx2"/>
                </a:solidFill>
              </a:rPr>
              <a:t>Leverage Trading Inefficiencies</a:t>
            </a:r>
          </a:p>
        </p:txBody>
      </p:sp>
      <p:sp>
        <p:nvSpPr>
          <p:cNvPr id="17" name="半闭框 16">
            <a:extLst>
              <a:ext uri="{FF2B5EF4-FFF2-40B4-BE49-F238E27FC236}">
                <a16:creationId xmlns:a16="http://schemas.microsoft.com/office/drawing/2014/main" id="{11E4A961-217E-B4CC-8F4C-4670978CA02F}"/>
              </a:ext>
            </a:extLst>
          </p:cNvPr>
          <p:cNvSpPr/>
          <p:nvPr/>
        </p:nvSpPr>
        <p:spPr>
          <a:xfrm rot="13500000">
            <a:off x="2049716" y="4790912"/>
            <a:ext cx="305436" cy="305436"/>
          </a:xfrm>
          <a:prstGeom prst="halfFram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5832FA94-8BEB-240A-539A-1F63A8B14BCA}"/>
              </a:ext>
            </a:extLst>
          </p:cNvPr>
          <p:cNvSpPr/>
          <p:nvPr/>
        </p:nvSpPr>
        <p:spPr>
          <a:xfrm>
            <a:off x="345486" y="5258345"/>
            <a:ext cx="3713897" cy="48874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kumimoji="1" lang="en-US" altLang="zh-CN" sz="1400" dirty="0">
                <a:solidFill>
                  <a:schemeClr val="tx1"/>
                </a:solidFill>
              </a:rPr>
              <a:t>Establish an </a:t>
            </a:r>
            <a:r>
              <a:rPr kumimoji="1" lang="en-US" altLang="zh-CN" sz="1400" b="1" dirty="0">
                <a:solidFill>
                  <a:schemeClr val="tx1"/>
                </a:solidFill>
              </a:rPr>
              <a:t>efficient, low-risk foothold</a:t>
            </a:r>
            <a:r>
              <a:rPr kumimoji="1" lang="en-US" altLang="zh-CN" sz="1400" dirty="0">
                <a:solidFill>
                  <a:schemeClr val="tx1"/>
                </a:solidFill>
              </a:rPr>
              <a:t> in a volatile but high-potential market</a:t>
            </a:r>
          </a:p>
        </p:txBody>
      </p:sp>
      <p:sp>
        <p:nvSpPr>
          <p:cNvPr id="20" name="半闭框 19">
            <a:extLst>
              <a:ext uri="{FF2B5EF4-FFF2-40B4-BE49-F238E27FC236}">
                <a16:creationId xmlns:a16="http://schemas.microsoft.com/office/drawing/2014/main" id="{17B99E14-4EFC-7938-5876-FBE644675ED6}"/>
              </a:ext>
            </a:extLst>
          </p:cNvPr>
          <p:cNvSpPr/>
          <p:nvPr/>
        </p:nvSpPr>
        <p:spPr>
          <a:xfrm rot="13500000">
            <a:off x="5946307" y="4790912"/>
            <a:ext cx="305436" cy="305436"/>
          </a:xfrm>
          <a:prstGeom prst="halfFram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F545E689-0D59-E65F-D0F5-AC86423E6547}"/>
              </a:ext>
            </a:extLst>
          </p:cNvPr>
          <p:cNvSpPr/>
          <p:nvPr/>
        </p:nvSpPr>
        <p:spPr>
          <a:xfrm>
            <a:off x="4242077" y="5258345"/>
            <a:ext cx="3713897" cy="48874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kumimoji="1" lang="en-US" altLang="zh-CN" sz="1400" dirty="0">
                <a:solidFill>
                  <a:schemeClr val="tx1"/>
                </a:solidFill>
              </a:rPr>
              <a:t>Build </a:t>
            </a:r>
            <a:r>
              <a:rPr kumimoji="1" lang="en-US" altLang="zh-CN" sz="1400" b="1" dirty="0">
                <a:solidFill>
                  <a:schemeClr val="tx1"/>
                </a:solidFill>
              </a:rPr>
              <a:t>resilience against curtailment </a:t>
            </a:r>
            <a:r>
              <a:rPr kumimoji="1" lang="en-US" altLang="zh-CN" sz="1400" dirty="0">
                <a:solidFill>
                  <a:schemeClr val="tx1"/>
                </a:solidFill>
              </a:rPr>
              <a:t>and long-term revenue compression</a:t>
            </a:r>
          </a:p>
        </p:txBody>
      </p:sp>
      <p:sp>
        <p:nvSpPr>
          <p:cNvPr id="22" name="半闭框 21">
            <a:extLst>
              <a:ext uri="{FF2B5EF4-FFF2-40B4-BE49-F238E27FC236}">
                <a16:creationId xmlns:a16="http://schemas.microsoft.com/office/drawing/2014/main" id="{DEDF063F-6A27-0558-EDFB-647A7A8DC6AF}"/>
              </a:ext>
            </a:extLst>
          </p:cNvPr>
          <p:cNvSpPr/>
          <p:nvPr/>
        </p:nvSpPr>
        <p:spPr>
          <a:xfrm rot="13500000">
            <a:off x="9832507" y="4790912"/>
            <a:ext cx="305436" cy="305436"/>
          </a:xfrm>
          <a:prstGeom prst="halfFram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51549D3C-8DE1-4B31-AB68-03938C52F095}"/>
              </a:ext>
            </a:extLst>
          </p:cNvPr>
          <p:cNvSpPr/>
          <p:nvPr/>
        </p:nvSpPr>
        <p:spPr>
          <a:xfrm>
            <a:off x="8128277" y="5258345"/>
            <a:ext cx="3713897" cy="48874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kumimoji="1" lang="en-US" altLang="zh-CN" sz="1400" dirty="0">
                <a:solidFill>
                  <a:schemeClr val="tx1"/>
                </a:solidFill>
              </a:rPr>
              <a:t>Turn Australia’s market volatility into a </a:t>
            </a:r>
            <a:br>
              <a:rPr kumimoji="1" lang="en-US" altLang="zh-CN" sz="1400" dirty="0">
                <a:solidFill>
                  <a:schemeClr val="tx1"/>
                </a:solidFill>
              </a:rPr>
            </a:br>
            <a:r>
              <a:rPr kumimoji="1" lang="en-US" altLang="zh-CN" sz="1400" b="1" dirty="0">
                <a:solidFill>
                  <a:schemeClr val="tx1"/>
                </a:solidFill>
              </a:rPr>
              <a:t>data-driven competitive edge</a:t>
            </a:r>
          </a:p>
        </p:txBody>
      </p:sp>
      <p:pic>
        <p:nvPicPr>
          <p:cNvPr id="24" name="图形 23">
            <a:extLst>
              <a:ext uri="{FF2B5EF4-FFF2-40B4-BE49-F238E27FC236}">
                <a16:creationId xmlns:a16="http://schemas.microsoft.com/office/drawing/2014/main" id="{FAFC9884-6246-F634-E0FD-A3070E684E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888462" y="6534398"/>
            <a:ext cx="762838" cy="203586"/>
          </a:xfrm>
          <a:prstGeom prst="rect">
            <a:avLst/>
          </a:prstGeom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9BB15453-D652-794B-55FC-16712E1ED423}"/>
              </a:ext>
            </a:extLst>
          </p:cNvPr>
          <p:cNvSpPr txBox="1"/>
          <p:nvPr/>
        </p:nvSpPr>
        <p:spPr>
          <a:xfrm>
            <a:off x="297118" y="6510854"/>
            <a:ext cx="6835202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expert interviews, literature review, analysis (Aptos, Regular, 12pt)</a:t>
            </a:r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BCFF956-0E02-B37C-A090-15397127068A}"/>
              </a:ext>
            </a:extLst>
          </p:cNvPr>
          <p:cNvSpPr txBox="1"/>
          <p:nvPr/>
        </p:nvSpPr>
        <p:spPr>
          <a:xfrm>
            <a:off x="11150825" y="6480075"/>
            <a:ext cx="824276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C6A1A2BA-6D83-C443-9823-3CD30E13C10E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4875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形 3">
            <a:extLst>
              <a:ext uri="{FF2B5EF4-FFF2-40B4-BE49-F238E27FC236}">
                <a16:creationId xmlns:a16="http://schemas.microsoft.com/office/drawing/2014/main" id="{90C2D6C3-F672-03CB-95B6-7768AA384B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888462" y="6534398"/>
            <a:ext cx="762838" cy="20358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40BB8C5-317F-655D-5BE1-0210F7527F90}"/>
              </a:ext>
            </a:extLst>
          </p:cNvPr>
          <p:cNvSpPr txBox="1"/>
          <p:nvPr/>
        </p:nvSpPr>
        <p:spPr>
          <a:xfrm>
            <a:off x="297118" y="6510854"/>
            <a:ext cx="6835202" cy="276999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Source: expert interviews, literature review, analysis (Aptos, Regular, 12pt)</a:t>
            </a:r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35F0B02-6935-E3A8-E599-4F3824E24311}"/>
              </a:ext>
            </a:extLst>
          </p:cNvPr>
          <p:cNvSpPr txBox="1"/>
          <p:nvPr/>
        </p:nvSpPr>
        <p:spPr>
          <a:xfrm>
            <a:off x="11150825" y="6480075"/>
            <a:ext cx="824276" cy="307777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fld id="{C6A1A2BA-6D83-C443-9823-3CD30E13C10E}" type="slidenum">
              <a:rPr kumimoji="1" lang="zh-CN" altLang="en-US" sz="14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4</a:t>
            </a:fld>
            <a:endParaRPr kumimoji="1" lang="zh-CN" altLang="en-US" sz="1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217ACF-4130-49D3-4C52-EA50A97F4F6F}"/>
              </a:ext>
            </a:extLst>
          </p:cNvPr>
          <p:cNvSpPr txBox="1"/>
          <p:nvPr/>
        </p:nvSpPr>
        <p:spPr>
          <a:xfrm>
            <a:off x="244988" y="31016"/>
            <a:ext cx="8819493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latin typeface="Aptos Narrow" panose="020B0004020202020204" pitchFamily="34" charset="0"/>
                <a:ea typeface="Palatino" pitchFamily="2" charset="0"/>
                <a:cs typeface="Mongolian Baiti" panose="03000500000000000000" pitchFamily="66" charset="0"/>
              </a:rPr>
              <a:t>Risk Mitigation: The blended ownership model offsets the proposal's most critical risks, protecting against severe downside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C986A6CE-D2DC-B17A-8342-F5B4591BBA0C}"/>
              </a:ext>
            </a:extLst>
          </p:cNvPr>
          <p:cNvCxnSpPr>
            <a:cxnSpLocks/>
          </p:cNvCxnSpPr>
          <p:nvPr/>
        </p:nvCxnSpPr>
        <p:spPr>
          <a:xfrm>
            <a:off x="345486" y="872723"/>
            <a:ext cx="1150102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CA88D83A-5172-4079-3EE0-40D82178B9D6}"/>
              </a:ext>
            </a:extLst>
          </p:cNvPr>
          <p:cNvSpPr/>
          <p:nvPr/>
        </p:nvSpPr>
        <p:spPr>
          <a:xfrm>
            <a:off x="5728242" y="1321262"/>
            <a:ext cx="2139917" cy="4887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400" b="1" dirty="0">
                <a:solidFill>
                  <a:schemeClr val="tx1"/>
                </a:solidFill>
              </a:rPr>
              <a:t>Germany Regulatory</a:t>
            </a:r>
          </a:p>
          <a:p>
            <a:r>
              <a:rPr kumimoji="1" lang="en-US" altLang="zh-CN" sz="1400" b="1" dirty="0">
                <a:solidFill>
                  <a:schemeClr val="tx1"/>
                </a:solidFill>
              </a:rPr>
              <a:t>Environment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49B9359-07E6-9820-71DF-F889BAE58EFC}"/>
              </a:ext>
            </a:extLst>
          </p:cNvPr>
          <p:cNvSpPr/>
          <p:nvPr/>
        </p:nvSpPr>
        <p:spPr>
          <a:xfrm>
            <a:off x="5466825" y="1321266"/>
            <a:ext cx="261417" cy="488743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/>
              <a:t>1</a:t>
            </a:r>
            <a:endParaRPr kumimoji="1" lang="zh-CN" altLang="en-US" sz="1600" b="1" dirty="0"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17A0A004-9899-2873-E37E-ADB0C445D411}"/>
              </a:ext>
            </a:extLst>
          </p:cNvPr>
          <p:cNvSpPr/>
          <p:nvPr/>
        </p:nvSpPr>
        <p:spPr>
          <a:xfrm>
            <a:off x="8052335" y="1321261"/>
            <a:ext cx="3790588" cy="48874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kumimoji="1" lang="en-US" altLang="zh-CN" sz="1400" dirty="0">
                <a:solidFill>
                  <a:schemeClr val="tx1"/>
                </a:solidFill>
              </a:rPr>
              <a:t>Slow project approval and project sales could</a:t>
            </a:r>
          </a:p>
          <a:p>
            <a:pPr>
              <a:lnSpc>
                <a:spcPct val="90000"/>
              </a:lnSpc>
            </a:pPr>
            <a:r>
              <a:rPr kumimoji="1" lang="en-US" altLang="zh-CN" sz="1400" dirty="0">
                <a:solidFill>
                  <a:schemeClr val="tx1"/>
                </a:solidFill>
              </a:rPr>
              <a:t>significantly slow ability to cash recycle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9E7E5E45-CEB0-9F21-275B-46E1846C6AE9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7868159" y="1565635"/>
            <a:ext cx="184176" cy="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A4D0989F-24AA-FCBF-C03A-C64320E1B2DB}"/>
              </a:ext>
            </a:extLst>
          </p:cNvPr>
          <p:cNvSpPr/>
          <p:nvPr/>
        </p:nvSpPr>
        <p:spPr>
          <a:xfrm>
            <a:off x="5728242" y="1923935"/>
            <a:ext cx="2139918" cy="4887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400" b="1" dirty="0">
                <a:solidFill>
                  <a:schemeClr val="tx1"/>
                </a:solidFill>
              </a:rPr>
              <a:t>High Leverage Risk from Merchant Agreements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C4DDBA0C-C25A-6AEF-7143-E55E2FB6DF0C}"/>
              </a:ext>
            </a:extLst>
          </p:cNvPr>
          <p:cNvSpPr/>
          <p:nvPr/>
        </p:nvSpPr>
        <p:spPr>
          <a:xfrm>
            <a:off x="5466825" y="1923934"/>
            <a:ext cx="261417" cy="488743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/>
              <a:t>2</a:t>
            </a:r>
            <a:endParaRPr kumimoji="1" lang="zh-CN" altLang="en-US" sz="1600" b="1" dirty="0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1754FC1E-411B-4701-DFE6-6AB447D98DBB}"/>
              </a:ext>
            </a:extLst>
          </p:cNvPr>
          <p:cNvSpPr/>
          <p:nvPr/>
        </p:nvSpPr>
        <p:spPr>
          <a:xfrm>
            <a:off x="8052335" y="1923934"/>
            <a:ext cx="3790588" cy="48874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kumimoji="1" lang="en-US" altLang="zh-CN" sz="1400" dirty="0">
                <a:solidFill>
                  <a:schemeClr val="tx1"/>
                </a:solidFill>
              </a:rPr>
              <a:t>If price volatility stabilizes, long-term ROI could sharply decline without floor price guarantee</a:t>
            </a: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3830BEC9-46DA-BADE-3E40-3BEEA161BAE6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 flipV="1">
            <a:off x="7868160" y="2168308"/>
            <a:ext cx="184175" cy="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4B0AB8FE-C0B0-876D-9324-48366A51C7BA}"/>
              </a:ext>
            </a:extLst>
          </p:cNvPr>
          <p:cNvSpPr/>
          <p:nvPr/>
        </p:nvSpPr>
        <p:spPr>
          <a:xfrm>
            <a:off x="5728242" y="2529952"/>
            <a:ext cx="2139917" cy="4887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400" b="1" dirty="0">
                <a:solidFill>
                  <a:schemeClr val="tx1"/>
                </a:solidFill>
              </a:rPr>
              <a:t>Rapid BESS Technology Advancements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19858136-2129-88C5-46ED-4BB09E66E53E}"/>
              </a:ext>
            </a:extLst>
          </p:cNvPr>
          <p:cNvSpPr/>
          <p:nvPr/>
        </p:nvSpPr>
        <p:spPr>
          <a:xfrm>
            <a:off x="5466825" y="2529956"/>
            <a:ext cx="261417" cy="488743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/>
              <a:t>3</a:t>
            </a:r>
            <a:endParaRPr kumimoji="1" lang="zh-CN" altLang="en-US" sz="1600" b="1" dirty="0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35024976-FD49-3DF0-A388-945A5177D634}"/>
              </a:ext>
            </a:extLst>
          </p:cNvPr>
          <p:cNvSpPr/>
          <p:nvPr/>
        </p:nvSpPr>
        <p:spPr>
          <a:xfrm>
            <a:off x="8052335" y="2529951"/>
            <a:ext cx="3790588" cy="48874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kumimoji="1" lang="en-US" altLang="zh-CN" sz="1400" dirty="0">
                <a:solidFill>
                  <a:schemeClr val="tx1"/>
                </a:solidFill>
              </a:rPr>
              <a:t>Rapid BESS advancement and adoption could</a:t>
            </a:r>
          </a:p>
          <a:p>
            <a:pPr>
              <a:lnSpc>
                <a:spcPct val="90000"/>
              </a:lnSpc>
            </a:pPr>
            <a:r>
              <a:rPr kumimoji="1" lang="en-US" altLang="zh-CN" sz="1400" dirty="0">
                <a:solidFill>
                  <a:schemeClr val="tx1"/>
                </a:solidFill>
              </a:rPr>
              <a:t>leave existing projects inefficient, reducing ROI</a:t>
            </a:r>
          </a:p>
        </p:txBody>
      </p:sp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E5EBD285-70D0-099D-1D2D-55F56054C099}"/>
              </a:ext>
            </a:extLst>
          </p:cNvPr>
          <p:cNvCxnSpPr>
            <a:cxnSpLocks/>
            <a:stCxn id="25" idx="3"/>
            <a:endCxn id="27" idx="1"/>
          </p:cNvCxnSpPr>
          <p:nvPr/>
        </p:nvCxnSpPr>
        <p:spPr>
          <a:xfrm flipV="1">
            <a:off x="7868159" y="2774325"/>
            <a:ext cx="184176" cy="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A1402583-D522-0786-F803-8030FE8817B5}"/>
              </a:ext>
            </a:extLst>
          </p:cNvPr>
          <p:cNvSpPr/>
          <p:nvPr/>
        </p:nvSpPr>
        <p:spPr>
          <a:xfrm>
            <a:off x="5728242" y="3132625"/>
            <a:ext cx="2139918" cy="4887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400" b="1" dirty="0">
                <a:solidFill>
                  <a:schemeClr val="tx1"/>
                </a:solidFill>
              </a:rPr>
              <a:t>Operation &amp; Construction Delays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0D16923E-CBF3-B76B-8EAB-AA7ED2684812}"/>
              </a:ext>
            </a:extLst>
          </p:cNvPr>
          <p:cNvSpPr/>
          <p:nvPr/>
        </p:nvSpPr>
        <p:spPr>
          <a:xfrm>
            <a:off x="5466825" y="3132624"/>
            <a:ext cx="261417" cy="488743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/>
              <a:t>4</a:t>
            </a:r>
            <a:endParaRPr kumimoji="1" lang="zh-CN" altLang="en-US" sz="1600" b="1" dirty="0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FEEF2A6E-76AF-2D6C-9A2C-56530C7B4BBC}"/>
              </a:ext>
            </a:extLst>
          </p:cNvPr>
          <p:cNvSpPr/>
          <p:nvPr/>
        </p:nvSpPr>
        <p:spPr>
          <a:xfrm>
            <a:off x="8052335" y="3132624"/>
            <a:ext cx="3790588" cy="48874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kumimoji="1" lang="en-US" altLang="zh-CN" sz="1400" dirty="0">
                <a:solidFill>
                  <a:schemeClr val="tx1"/>
                </a:solidFill>
              </a:rPr>
              <a:t>Delays could tie up capital and prevent EE's ability to secure a dominant market position</a:t>
            </a:r>
          </a:p>
        </p:txBody>
      </p:sp>
      <p:cxnSp>
        <p:nvCxnSpPr>
          <p:cNvPr id="32" name="直线连接符 31">
            <a:extLst>
              <a:ext uri="{FF2B5EF4-FFF2-40B4-BE49-F238E27FC236}">
                <a16:creationId xmlns:a16="http://schemas.microsoft.com/office/drawing/2014/main" id="{AC805526-DA2C-B57F-FC7B-0BFFC8F77A77}"/>
              </a:ext>
            </a:extLst>
          </p:cNvPr>
          <p:cNvCxnSpPr>
            <a:cxnSpLocks/>
            <a:stCxn id="29" idx="3"/>
            <a:endCxn id="31" idx="1"/>
          </p:cNvCxnSpPr>
          <p:nvPr/>
        </p:nvCxnSpPr>
        <p:spPr>
          <a:xfrm flipV="1">
            <a:off x="7868160" y="3376998"/>
            <a:ext cx="184175" cy="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矩形 32">
            <a:extLst>
              <a:ext uri="{FF2B5EF4-FFF2-40B4-BE49-F238E27FC236}">
                <a16:creationId xmlns:a16="http://schemas.microsoft.com/office/drawing/2014/main" id="{D523052D-9F1C-0FF7-415E-49C912C3984D}"/>
              </a:ext>
            </a:extLst>
          </p:cNvPr>
          <p:cNvSpPr/>
          <p:nvPr/>
        </p:nvSpPr>
        <p:spPr>
          <a:xfrm>
            <a:off x="5728242" y="3738641"/>
            <a:ext cx="2139917" cy="4887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400" b="1" dirty="0">
                <a:solidFill>
                  <a:schemeClr val="tx1"/>
                </a:solidFill>
              </a:rPr>
              <a:t>Lack of Project </a:t>
            </a:r>
            <a:br>
              <a:rPr kumimoji="1" lang="en-US" altLang="zh-CN" sz="1400" b="1" dirty="0">
                <a:solidFill>
                  <a:schemeClr val="tx1"/>
                </a:solidFill>
              </a:rPr>
            </a:br>
            <a:r>
              <a:rPr kumimoji="1" lang="en-US" altLang="zh-CN" sz="1400" b="1" dirty="0">
                <a:solidFill>
                  <a:schemeClr val="tx1"/>
                </a:solidFill>
              </a:rPr>
              <a:t>Sale Buyers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5C2F44BB-ADC7-2B4E-6D28-C28FC78BF845}"/>
              </a:ext>
            </a:extLst>
          </p:cNvPr>
          <p:cNvSpPr/>
          <p:nvPr/>
        </p:nvSpPr>
        <p:spPr>
          <a:xfrm>
            <a:off x="5466825" y="3738645"/>
            <a:ext cx="261417" cy="488743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/>
              <a:t>5</a:t>
            </a:r>
            <a:endParaRPr kumimoji="1" lang="zh-CN" altLang="en-US" sz="1600" b="1" dirty="0"/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B845EDE1-421E-B1DF-DBB7-81857931A447}"/>
              </a:ext>
            </a:extLst>
          </p:cNvPr>
          <p:cNvSpPr/>
          <p:nvPr/>
        </p:nvSpPr>
        <p:spPr>
          <a:xfrm>
            <a:off x="8052335" y="3738640"/>
            <a:ext cx="3790588" cy="48874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kumimoji="1" lang="en-US" altLang="zh-CN" sz="1400" dirty="0">
                <a:solidFill>
                  <a:schemeClr val="tx1"/>
                </a:solidFill>
              </a:rPr>
              <a:t>Slow project sales could slow cash recycling, but EE would generate returns in intermediary</a:t>
            </a:r>
          </a:p>
        </p:txBody>
      </p: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81E98287-C8FD-6728-B59D-FBFCA5A72965}"/>
              </a:ext>
            </a:extLst>
          </p:cNvPr>
          <p:cNvCxnSpPr>
            <a:cxnSpLocks/>
            <a:stCxn id="33" idx="3"/>
            <a:endCxn id="35" idx="1"/>
          </p:cNvCxnSpPr>
          <p:nvPr/>
        </p:nvCxnSpPr>
        <p:spPr>
          <a:xfrm flipV="1">
            <a:off x="7868159" y="3983014"/>
            <a:ext cx="184176" cy="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矩形 36">
            <a:extLst>
              <a:ext uri="{FF2B5EF4-FFF2-40B4-BE49-F238E27FC236}">
                <a16:creationId xmlns:a16="http://schemas.microsoft.com/office/drawing/2014/main" id="{34BAA28E-3856-E0AE-E749-4F7906A2EC43}"/>
              </a:ext>
            </a:extLst>
          </p:cNvPr>
          <p:cNvSpPr/>
          <p:nvPr/>
        </p:nvSpPr>
        <p:spPr>
          <a:xfrm>
            <a:off x="5728242" y="4341314"/>
            <a:ext cx="2139918" cy="4887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1400" b="1" dirty="0">
                <a:solidFill>
                  <a:schemeClr val="tx1"/>
                </a:solidFill>
              </a:rPr>
              <a:t>Fail to Secure Sufficient Debt Financing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BD70D279-69C5-9A47-A831-EAB4F046C336}"/>
              </a:ext>
            </a:extLst>
          </p:cNvPr>
          <p:cNvSpPr/>
          <p:nvPr/>
        </p:nvSpPr>
        <p:spPr>
          <a:xfrm>
            <a:off x="5466825" y="4341313"/>
            <a:ext cx="261417" cy="488743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/>
              <a:t>6</a:t>
            </a:r>
            <a:endParaRPr kumimoji="1" lang="zh-CN" altLang="en-US" sz="1600" b="1" dirty="0"/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1C675C16-97F2-9B3A-3AB7-2DDBF14BFC28}"/>
              </a:ext>
            </a:extLst>
          </p:cNvPr>
          <p:cNvSpPr/>
          <p:nvPr/>
        </p:nvSpPr>
        <p:spPr>
          <a:xfrm>
            <a:off x="8052335" y="4341313"/>
            <a:ext cx="3790588" cy="488748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kumimoji="1" lang="en-US" altLang="zh-CN" sz="1400" dirty="0">
                <a:solidFill>
                  <a:schemeClr val="tx1"/>
                </a:solidFill>
              </a:rPr>
              <a:t>Projections depend on sufficient debt</a:t>
            </a:r>
          </a:p>
          <a:p>
            <a:pPr>
              <a:lnSpc>
                <a:spcPct val="90000"/>
              </a:lnSpc>
            </a:pPr>
            <a:r>
              <a:rPr kumimoji="1" lang="en-US" altLang="zh-CN" sz="1400" dirty="0">
                <a:solidFill>
                  <a:schemeClr val="tx1"/>
                </a:solidFill>
              </a:rPr>
              <a:t>financers, influenced by macro trends</a:t>
            </a:r>
          </a:p>
        </p:txBody>
      </p: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30F0A141-20ED-51D7-D489-2313FFB6C9E2}"/>
              </a:ext>
            </a:extLst>
          </p:cNvPr>
          <p:cNvCxnSpPr>
            <a:cxnSpLocks/>
            <a:stCxn id="37" idx="3"/>
            <a:endCxn id="39" idx="1"/>
          </p:cNvCxnSpPr>
          <p:nvPr/>
        </p:nvCxnSpPr>
        <p:spPr>
          <a:xfrm flipV="1">
            <a:off x="7868160" y="4585687"/>
            <a:ext cx="184175" cy="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矩形 40">
            <a:extLst>
              <a:ext uri="{FF2B5EF4-FFF2-40B4-BE49-F238E27FC236}">
                <a16:creationId xmlns:a16="http://schemas.microsoft.com/office/drawing/2014/main" id="{F04773C9-C3D6-C275-AECD-55A2DE1E4EEE}"/>
              </a:ext>
            </a:extLst>
          </p:cNvPr>
          <p:cNvSpPr/>
          <p:nvPr/>
        </p:nvSpPr>
        <p:spPr>
          <a:xfrm>
            <a:off x="5466825" y="5311531"/>
            <a:ext cx="6376098" cy="77433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kumimoji="1" lang="en-US" altLang="zh-CN" sz="1400" dirty="0">
                <a:solidFill>
                  <a:schemeClr val="tx1"/>
                </a:solidFill>
              </a:rPr>
              <a:t>The proposed two-phase approach involves both long-term merchant retrofit ownership and short-term project sales. This means that the risks of each phase (1) and (3) offset each other because they have different ownership timeframes.</a:t>
            </a:r>
          </a:p>
        </p:txBody>
      </p:sp>
      <p:cxnSp>
        <p:nvCxnSpPr>
          <p:cNvPr id="43" name="直线箭头连接符 42">
            <a:extLst>
              <a:ext uri="{FF2B5EF4-FFF2-40B4-BE49-F238E27FC236}">
                <a16:creationId xmlns:a16="http://schemas.microsoft.com/office/drawing/2014/main" id="{DE573C71-4EB3-04E5-F546-5E6627FD2E12}"/>
              </a:ext>
            </a:extLst>
          </p:cNvPr>
          <p:cNvCxnSpPr>
            <a:cxnSpLocks/>
          </p:cNvCxnSpPr>
          <p:nvPr/>
        </p:nvCxnSpPr>
        <p:spPr>
          <a:xfrm flipV="1">
            <a:off x="744135" y="1223725"/>
            <a:ext cx="0" cy="4475326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线箭头连接符 44">
            <a:extLst>
              <a:ext uri="{FF2B5EF4-FFF2-40B4-BE49-F238E27FC236}">
                <a16:creationId xmlns:a16="http://schemas.microsoft.com/office/drawing/2014/main" id="{5B9583AF-2CD8-F729-B5D2-650C50100BFF}"/>
              </a:ext>
            </a:extLst>
          </p:cNvPr>
          <p:cNvCxnSpPr>
            <a:cxnSpLocks/>
          </p:cNvCxnSpPr>
          <p:nvPr/>
        </p:nvCxnSpPr>
        <p:spPr>
          <a:xfrm>
            <a:off x="744135" y="5699051"/>
            <a:ext cx="4178739" cy="0"/>
          </a:xfrm>
          <a:prstGeom prst="straightConnector1">
            <a:avLst/>
          </a:prstGeom>
          <a:ln w="38100" cap="sq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FD6D3F2F-BBB4-5B3F-DC8D-827497154566}"/>
              </a:ext>
            </a:extLst>
          </p:cNvPr>
          <p:cNvSpPr txBox="1"/>
          <p:nvPr/>
        </p:nvSpPr>
        <p:spPr>
          <a:xfrm>
            <a:off x="203602" y="1055862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400" dirty="0"/>
              <a:t>High</a:t>
            </a:r>
            <a:endParaRPr kumimoji="1" lang="zh-CN" altLang="en-US" sz="140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45A5E05-C14F-A5E9-D2A7-4D3DD0777A1C}"/>
              </a:ext>
            </a:extLst>
          </p:cNvPr>
          <p:cNvSpPr txBox="1"/>
          <p:nvPr/>
        </p:nvSpPr>
        <p:spPr>
          <a:xfrm>
            <a:off x="279330" y="5662921"/>
            <a:ext cx="5023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-US" altLang="zh-CN" sz="1400" dirty="0"/>
              <a:t>Low</a:t>
            </a:r>
            <a:endParaRPr kumimoji="1"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F680207-6CC0-C917-B514-81982B146BD0}"/>
              </a:ext>
            </a:extLst>
          </p:cNvPr>
          <p:cNvSpPr txBox="1"/>
          <p:nvPr/>
        </p:nvSpPr>
        <p:spPr>
          <a:xfrm>
            <a:off x="4785088" y="5700077"/>
            <a:ext cx="5405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High</a:t>
            </a:r>
            <a:endParaRPr kumimoji="1" lang="zh-CN" altLang="en-US" sz="1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E426A3A-4FD9-0353-6827-3E9E21C2CB9B}"/>
              </a:ext>
            </a:extLst>
          </p:cNvPr>
          <p:cNvSpPr txBox="1"/>
          <p:nvPr/>
        </p:nvSpPr>
        <p:spPr>
          <a:xfrm>
            <a:off x="2235167" y="5698026"/>
            <a:ext cx="11966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Probability</a:t>
            </a:r>
            <a:endParaRPr kumimoji="1" lang="zh-CN" altLang="en-US" sz="1600" b="1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FF55E5A-B686-CF5B-3C26-7F6544F69FFB}"/>
              </a:ext>
            </a:extLst>
          </p:cNvPr>
          <p:cNvSpPr txBox="1"/>
          <p:nvPr/>
        </p:nvSpPr>
        <p:spPr>
          <a:xfrm rot="16200000">
            <a:off x="150704" y="3259723"/>
            <a:ext cx="84830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b="1" dirty="0"/>
              <a:t>Impact</a:t>
            </a:r>
            <a:endParaRPr kumimoji="1" lang="zh-CN" altLang="en-US" sz="1600" b="1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18A2D3C3-6EE5-37F2-7946-12EA6D6D0544}"/>
              </a:ext>
            </a:extLst>
          </p:cNvPr>
          <p:cNvSpPr/>
          <p:nvPr/>
        </p:nvSpPr>
        <p:spPr>
          <a:xfrm>
            <a:off x="989556" y="1565635"/>
            <a:ext cx="3670126" cy="3870661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10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aphicFrame>
        <p:nvGraphicFramePr>
          <p:cNvPr id="54" name="表格 53">
            <a:extLst>
              <a:ext uri="{FF2B5EF4-FFF2-40B4-BE49-F238E27FC236}">
                <a16:creationId xmlns:a16="http://schemas.microsoft.com/office/drawing/2014/main" id="{69146E72-F524-5E61-E816-3FAA55312A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745909"/>
              </p:ext>
            </p:extLst>
          </p:nvPr>
        </p:nvGraphicFramePr>
        <p:xfrm>
          <a:off x="989556" y="1565091"/>
          <a:ext cx="3670116" cy="38706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7529">
                  <a:extLst>
                    <a:ext uri="{9D8B030D-6E8A-4147-A177-3AD203B41FA5}">
                      <a16:colId xmlns:a16="http://schemas.microsoft.com/office/drawing/2014/main" val="1127300106"/>
                    </a:ext>
                  </a:extLst>
                </a:gridCol>
                <a:gridCol w="917529">
                  <a:extLst>
                    <a:ext uri="{9D8B030D-6E8A-4147-A177-3AD203B41FA5}">
                      <a16:colId xmlns:a16="http://schemas.microsoft.com/office/drawing/2014/main" val="2601541386"/>
                    </a:ext>
                  </a:extLst>
                </a:gridCol>
                <a:gridCol w="917529">
                  <a:extLst>
                    <a:ext uri="{9D8B030D-6E8A-4147-A177-3AD203B41FA5}">
                      <a16:colId xmlns:a16="http://schemas.microsoft.com/office/drawing/2014/main" val="3660385216"/>
                    </a:ext>
                  </a:extLst>
                </a:gridCol>
                <a:gridCol w="917529">
                  <a:extLst>
                    <a:ext uri="{9D8B030D-6E8A-4147-A177-3AD203B41FA5}">
                      <a16:colId xmlns:a16="http://schemas.microsoft.com/office/drawing/2014/main" val="326007348"/>
                    </a:ext>
                  </a:extLst>
                </a:gridCol>
              </a:tblGrid>
              <a:tr h="96766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4347298"/>
                  </a:ext>
                </a:extLst>
              </a:tr>
              <a:tr h="96766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6936162"/>
                  </a:ext>
                </a:extLst>
              </a:tr>
              <a:tr h="967665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31626881"/>
                  </a:ext>
                </a:extLst>
              </a:tr>
              <a:tr h="967665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7601458"/>
                  </a:ext>
                </a:extLst>
              </a:tr>
            </a:tbl>
          </a:graphicData>
        </a:graphic>
      </p:graphicFrame>
      <p:sp>
        <p:nvSpPr>
          <p:cNvPr id="56" name="椭圆 55">
            <a:extLst>
              <a:ext uri="{FF2B5EF4-FFF2-40B4-BE49-F238E27FC236}">
                <a16:creationId xmlns:a16="http://schemas.microsoft.com/office/drawing/2014/main" id="{86392C13-B4F2-9ADF-44BC-4A067779C3EC}"/>
              </a:ext>
            </a:extLst>
          </p:cNvPr>
          <p:cNvSpPr/>
          <p:nvPr/>
        </p:nvSpPr>
        <p:spPr>
          <a:xfrm>
            <a:off x="3541425" y="3327127"/>
            <a:ext cx="346587" cy="346587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1</a:t>
            </a:r>
            <a:endParaRPr kumimoji="1" lang="zh-CN" altLang="en-US" b="1" dirty="0"/>
          </a:p>
        </p:txBody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A344EB1F-9D76-AE55-964E-38D01157DC7C}"/>
              </a:ext>
            </a:extLst>
          </p:cNvPr>
          <p:cNvSpPr/>
          <p:nvPr/>
        </p:nvSpPr>
        <p:spPr>
          <a:xfrm>
            <a:off x="2061873" y="3024665"/>
            <a:ext cx="346587" cy="346587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2</a:t>
            </a:r>
            <a:endParaRPr kumimoji="1" lang="zh-CN" altLang="en-US" b="1" dirty="0"/>
          </a:p>
        </p:txBody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0069C9AF-796B-4E36-C415-840EB663EC65}"/>
              </a:ext>
            </a:extLst>
          </p:cNvPr>
          <p:cNvSpPr/>
          <p:nvPr/>
        </p:nvSpPr>
        <p:spPr>
          <a:xfrm>
            <a:off x="2716308" y="2222929"/>
            <a:ext cx="346587" cy="346587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3</a:t>
            </a:r>
            <a:endParaRPr kumimoji="1" lang="zh-CN" altLang="en-US" b="1" dirty="0"/>
          </a:p>
        </p:txBody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F3886199-7519-9174-EBC7-D16FD8C24C1D}"/>
              </a:ext>
            </a:extLst>
          </p:cNvPr>
          <p:cNvSpPr/>
          <p:nvPr/>
        </p:nvSpPr>
        <p:spPr>
          <a:xfrm>
            <a:off x="1248843" y="2429407"/>
            <a:ext cx="346587" cy="346587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6</a:t>
            </a:r>
            <a:endParaRPr kumimoji="1" lang="zh-CN" altLang="en-US" b="1" dirty="0"/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270CD78F-09F6-2B91-845C-54BF945750C3}"/>
              </a:ext>
            </a:extLst>
          </p:cNvPr>
          <p:cNvSpPr/>
          <p:nvPr/>
        </p:nvSpPr>
        <p:spPr>
          <a:xfrm>
            <a:off x="1130856" y="3646149"/>
            <a:ext cx="346587" cy="346587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4</a:t>
            </a:r>
            <a:endParaRPr kumimoji="1" lang="zh-CN" altLang="en-US" b="1" dirty="0"/>
          </a:p>
        </p:txBody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C7F05CD1-2735-4F70-3781-36B3438225AD}"/>
              </a:ext>
            </a:extLst>
          </p:cNvPr>
          <p:cNvSpPr/>
          <p:nvPr/>
        </p:nvSpPr>
        <p:spPr>
          <a:xfrm>
            <a:off x="2008385" y="4272955"/>
            <a:ext cx="346587" cy="346587"/>
          </a:xfrm>
          <a:prstGeom prst="ellipse">
            <a:avLst/>
          </a:prstGeom>
          <a:solidFill>
            <a:schemeClr val="tx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5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2898815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19DE721-1443-FD79-5920-94383D44E05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6000"/>
          </a:blip>
          <a:stretch>
            <a:fillRect/>
          </a:stretch>
        </p:blipFill>
        <p:spPr>
          <a:xfrm>
            <a:off x="47264" y="0"/>
            <a:ext cx="12144735" cy="688479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F9330F4-2DE6-0500-E561-86B311AD8FF1}"/>
              </a:ext>
            </a:extLst>
          </p:cNvPr>
          <p:cNvSpPr txBox="1"/>
          <p:nvPr/>
        </p:nvSpPr>
        <p:spPr>
          <a:xfrm>
            <a:off x="244988" y="31016"/>
            <a:ext cx="9084541" cy="83099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kumimoji="1" lang="en-US" altLang="zh-CN" sz="2400" b="1" dirty="0">
                <a:latin typeface="Aptos Narrow" panose="020B0004020202020204" pitchFamily="34" charset="0"/>
                <a:ea typeface="Palatino" pitchFamily="2" charset="0"/>
                <a:cs typeface="Mongolian Baiti" panose="03000500000000000000" pitchFamily="66" charset="0"/>
              </a:rPr>
              <a:t>To achieve ideal growth, priority should be considered by potential and feasibility, while proper actions should be taken to mitigate risks</a:t>
            </a:r>
          </a:p>
        </p:txBody>
      </p:sp>
      <p:cxnSp>
        <p:nvCxnSpPr>
          <p:cNvPr id="9" name="直线连接符 8">
            <a:extLst>
              <a:ext uri="{FF2B5EF4-FFF2-40B4-BE49-F238E27FC236}">
                <a16:creationId xmlns:a16="http://schemas.microsoft.com/office/drawing/2014/main" id="{2F6AAA03-88AA-6B05-B5F0-B16E9B6BA4BC}"/>
              </a:ext>
            </a:extLst>
          </p:cNvPr>
          <p:cNvCxnSpPr>
            <a:cxnSpLocks/>
          </p:cNvCxnSpPr>
          <p:nvPr/>
        </p:nvCxnSpPr>
        <p:spPr>
          <a:xfrm>
            <a:off x="345486" y="872723"/>
            <a:ext cx="11501023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325C4243-BAE3-41B8-487D-241E8D369232}"/>
              </a:ext>
            </a:extLst>
          </p:cNvPr>
          <p:cNvSpPr/>
          <p:nvPr/>
        </p:nvSpPr>
        <p:spPr>
          <a:xfrm>
            <a:off x="345489" y="1116589"/>
            <a:ext cx="5750511" cy="301454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Priority and Implementation Timeline</a:t>
            </a:r>
            <a:endParaRPr kumimoji="1" lang="zh-CN" altLang="en-US" b="1" dirty="0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008E939F-9ACD-26FC-28C4-E1D0E49DB28D}"/>
              </a:ext>
            </a:extLst>
          </p:cNvPr>
          <p:cNvSpPr/>
          <p:nvPr/>
        </p:nvSpPr>
        <p:spPr>
          <a:xfrm>
            <a:off x="6394225" y="1116589"/>
            <a:ext cx="5453219" cy="301454"/>
          </a:xfrm>
          <a:prstGeom prst="roundRect">
            <a:avLst>
              <a:gd name="adj" fmla="val 0"/>
            </a:avLst>
          </a:prstGeom>
          <a:solidFill>
            <a:schemeClr val="tx1">
              <a:lumMod val="50000"/>
              <a:lumOff val="50000"/>
            </a:schemeClr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 dirty="0"/>
              <a:t>Revenue and Margin Forecast</a:t>
            </a:r>
            <a:endParaRPr kumimoji="1"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696569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7">
      <a:dk1>
        <a:srgbClr val="131312"/>
      </a:dk1>
      <a:lt1>
        <a:srgbClr val="FFFFFF"/>
      </a:lt1>
      <a:dk2>
        <a:srgbClr val="CC0000"/>
      </a:dk2>
      <a:lt2>
        <a:srgbClr val="FFEEEE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91DE601F-B7A8-924F-B134-54C42D7F4152}">
  <we:reference id="wa200005566" version="3.0.0.2" store="zh-CN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944C907-A97A-BB44-B28C-C528CE1366E1}">
  <we:reference id="wa104381909" version="3.14.0.0" store="en-US" storeType="OMEX"/>
  <we:alternateReferences>
    <we:reference id="WA104381909" version="3.14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827</TotalTime>
  <Words>777</Words>
  <Application>Microsoft Macintosh PowerPoint</Application>
  <PresentationFormat>宽屏</PresentationFormat>
  <Paragraphs>125</Paragraphs>
  <Slides>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Aptos</vt:lpstr>
      <vt:lpstr>Aptos Display</vt:lpstr>
      <vt:lpstr>Aptos Narrow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 Tse</dc:creator>
  <cp:lastModifiedBy>Alex Tse</cp:lastModifiedBy>
  <cp:revision>5</cp:revision>
  <dcterms:created xsi:type="dcterms:W3CDTF">2026-04-22T14:08:10Z</dcterms:created>
  <dcterms:modified xsi:type="dcterms:W3CDTF">2026-04-23T14:54:58Z</dcterms:modified>
</cp:coreProperties>
</file>