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sldIdLst>
    <p:sldId id="256" r:id="rId2"/>
    <p:sldId id="257" r:id="R0660a2a2297a4cf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98"/>
    <p:restoredTop sz="94670"/>
  </p:normalViewPr>
  <p:slideViewPr>
    <p:cSldViewPr snapToGrid="0">
      <p:cViewPr>
        <p:scale>
          <a:sx n="121" d="100"/>
          <a:sy n="121" d="100"/>
        </p:scale>
        <p:origin x="35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" Target="slides/slide1.xml" Id="rId2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0660a2a2297a4cf7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9796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69705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25075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2518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9135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2211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651556"/>
      </p:ext>
    </p:extLst>
  </p:cSld>
  <p:clrMapOvr>
    <a:masterClrMapping/>
  </p:clrMapOvr>
  <p:hf sldNum="0" hdr="0" ftr="0" dt="0"/>
</p:sldLayout>
</file>

<file path=ppt/slideLayouts/slideLayout8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6433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5968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869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8921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496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f7bc31af99f4e9b" /><Relationship Type="http://schemas.openxmlformats.org/officeDocument/2006/relationships/image" Target="/ppt/media/image1.svg" Id="R4708a209b2ba47fa" /></Relationships>
</file>

<file path=ppt/slides/slide1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8867E2AE-94E7-1A73-6E90-690A565127A1}"/>
              </a:ext>
            </a:extLst>
          </p:cNvPr>
          <p:cNvSpPr/>
          <p:nvPr/>
        </p:nvSpPr>
        <p:spPr>
          <a:xfrm>
            <a:off x="345486" y="2133920"/>
            <a:ext cx="4093812" cy="20357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DB9CA48A-455E-EAA4-A5E3-A646AC47B8F4}"/>
              </a:ext>
            </a:extLst>
          </p:cNvPr>
          <p:cNvSpPr txBox="1"/>
          <p:nvPr/>
        </p:nvSpPr>
        <p:spPr>
          <a:xfrm>
            <a:off x="606903" y="2133920"/>
            <a:ext cx="1410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Key Priorities</a:t>
            </a:r>
            <a:endParaRPr kumimoji="1" lang="zh-CN" altLang="en-US" sz="16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84108D-D9E5-2FFA-EABB-0B4A6E95160C}"/>
              </a:ext>
            </a:extLst>
          </p:cNvPr>
          <p:cNvSpPr txBox="1"/>
          <p:nvPr/>
        </p:nvSpPr>
        <p:spPr>
          <a:xfrm>
            <a:off x="244988" y="92571"/>
            <a:ext cx="1006393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000" b="1" dirty="0">
                <a:latin typeface="Aptos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Executive Summary: Drive Fruit Co. growth through store expansion, supply chain optimization, product diversification, and improved purchasing experience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E397D437-4E52-D22D-6B27-72E8C793A13C}"/>
              </a:ext>
            </a:extLst>
          </p:cNvPr>
          <p:cNvSpPr/>
          <p:nvPr/>
        </p:nvSpPr>
        <p:spPr>
          <a:xfrm>
            <a:off x="345489" y="1076700"/>
            <a:ext cx="2012699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Optimizing Returns</a:t>
            </a:r>
            <a:endParaRPr kumimoji="1" lang="zh-CN" altLang="en-US" sz="1600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9E0164F-8AEF-E13C-5944-82136D1891B0}"/>
              </a:ext>
            </a:extLst>
          </p:cNvPr>
          <p:cNvSpPr/>
          <p:nvPr/>
        </p:nvSpPr>
        <p:spPr>
          <a:xfrm>
            <a:off x="345488" y="1356860"/>
            <a:ext cx="11501023" cy="6125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dirty="0">
                <a:solidFill>
                  <a:schemeClr val="tx1"/>
                </a:solidFill>
              </a:rPr>
              <a:t>Restructure merchant projects to stabilize cash flows while expanding EE’s global BESS network in high-return markets. Convert German standalone tolling projects to drive equity growth. Portfolio equity allocations optimized via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Mixed-Integer Linear Programming.</a:t>
            </a:r>
          </a:p>
        </p:txBody>
      </p: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02F3A8E7-106F-591D-F7DE-2793A8B3EA7F}"/>
              </a:ext>
            </a:extLst>
          </p:cNvPr>
          <p:cNvCxnSpPr/>
          <p:nvPr/>
        </p:nvCxnSpPr>
        <p:spPr>
          <a:xfrm flipV="1">
            <a:off x="6153443" y="2759531"/>
            <a:ext cx="0" cy="265626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A2AA58F1-8C5F-12B1-E566-EF8BAB04F2C1}"/>
              </a:ext>
            </a:extLst>
          </p:cNvPr>
          <p:cNvCxnSpPr/>
          <p:nvPr/>
        </p:nvCxnSpPr>
        <p:spPr>
          <a:xfrm>
            <a:off x="6153443" y="2759531"/>
            <a:ext cx="1140643" cy="0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46B1B25C-4B10-DFA5-113C-8B8F249419B4}"/>
              </a:ext>
            </a:extLst>
          </p:cNvPr>
          <p:cNvSpPr txBox="1"/>
          <p:nvPr/>
        </p:nvSpPr>
        <p:spPr>
          <a:xfrm>
            <a:off x="7398837" y="2587180"/>
            <a:ext cx="24510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600" b="1" dirty="0">
                <a:solidFill>
                  <a:schemeClr val="tx2"/>
                </a:solidFill>
              </a:rPr>
              <a:t>Lithuania – €37.1M Y1 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D990F21-74EB-8B63-9610-E9B956354BE9}"/>
              </a:ext>
            </a:extLst>
          </p:cNvPr>
          <p:cNvSpPr txBox="1"/>
          <p:nvPr/>
        </p:nvSpPr>
        <p:spPr>
          <a:xfrm>
            <a:off x="7398837" y="2887389"/>
            <a:ext cx="38861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Adopt short development cycles to keep pace with rapidly evolving battery tech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Slash costs with 30% CAPEX grants</a:t>
            </a:r>
            <a:endParaRPr kumimoji="1" lang="zh-CN" altLang="en-US" sz="1400" dirty="0"/>
          </a:p>
        </p:txBody>
      </p:sp>
      <p:cxnSp>
        <p:nvCxnSpPr>
          <p:cNvPr id="58" name="直线连接符 57">
            <a:extLst>
              <a:ext uri="{FF2B5EF4-FFF2-40B4-BE49-F238E27FC236}">
                <a16:creationId xmlns:a16="http://schemas.microsoft.com/office/drawing/2014/main" id="{4CC9D08D-A330-065D-B982-D792D996573E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图形 60">
            <a:extLst>
              <a:ext uri="{FF2B5EF4-FFF2-40B4-BE49-F238E27FC236}">
                <a16:creationId xmlns:a16="http://schemas.microsoft.com/office/drawing/2014/main" id="{CD67FE52-B21D-D467-FA8C-18471F8E3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B90A9678-3626-3D04-0741-C4A91C87FC69}"/>
              </a:ext>
            </a:extLst>
          </p:cNvPr>
          <p:cNvSpPr/>
          <p:nvPr/>
        </p:nvSpPr>
        <p:spPr>
          <a:xfrm>
            <a:off x="345486" y="4614895"/>
            <a:ext cx="4093812" cy="169446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A45F7AD-496A-66BB-C4E3-0CA4FF918069}"/>
              </a:ext>
            </a:extLst>
          </p:cNvPr>
          <p:cNvSpPr txBox="1"/>
          <p:nvPr/>
        </p:nvSpPr>
        <p:spPr>
          <a:xfrm>
            <a:off x="297118" y="6510854"/>
            <a:ext cx="2856038" cy="27699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E69AE45E-1DE2-4DAB-7FF4-44303F245327}"/>
              </a:ext>
            </a:extLst>
          </p:cNvPr>
          <p:cNvSpPr/>
          <p:nvPr/>
        </p:nvSpPr>
        <p:spPr>
          <a:xfrm>
            <a:off x="345485" y="4332458"/>
            <a:ext cx="4093811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Key Priorities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1C5D88F-A049-9DE9-9395-9B6691D6E825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7" name="圆角矩形 76">
            <a:extLst>
              <a:ext uri="{FF2B5EF4-FFF2-40B4-BE49-F238E27FC236}">
                <a16:creationId xmlns:a16="http://schemas.microsoft.com/office/drawing/2014/main" id="{BFAE422C-1765-50D1-BEB2-2C81DA15E6BC}"/>
              </a:ext>
            </a:extLst>
          </p:cNvPr>
          <p:cNvSpPr/>
          <p:nvPr/>
        </p:nvSpPr>
        <p:spPr>
          <a:xfrm>
            <a:off x="345486" y="2161979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cxnSp>
        <p:nvCxnSpPr>
          <p:cNvPr id="79" name="直线连接符 78">
            <a:extLst>
              <a:ext uri="{FF2B5EF4-FFF2-40B4-BE49-F238E27FC236}">
                <a16:creationId xmlns:a16="http://schemas.microsoft.com/office/drawing/2014/main" id="{7B9A5B20-BEFA-0ADD-2D2A-70ED7D6302C9}"/>
              </a:ext>
            </a:extLst>
          </p:cNvPr>
          <p:cNvCxnSpPr>
            <a:cxnSpLocks/>
          </p:cNvCxnSpPr>
          <p:nvPr/>
        </p:nvCxnSpPr>
        <p:spPr>
          <a:xfrm>
            <a:off x="345486" y="2444416"/>
            <a:ext cx="409381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746FE38C-0400-C837-CAC2-BBFE1F7867E4}"/>
              </a:ext>
            </a:extLst>
          </p:cNvPr>
          <p:cNvSpPr/>
          <p:nvPr/>
        </p:nvSpPr>
        <p:spPr>
          <a:xfrm>
            <a:off x="5137950" y="4993701"/>
            <a:ext cx="6708559" cy="885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b="1" dirty="0">
                <a:solidFill>
                  <a:schemeClr val="tx1"/>
                </a:solidFill>
              </a:rPr>
              <a:t>Recommend raising ex-factory prices by CN¥0.25–0.30 per bottle for Genki Forest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Retail prices could rise CN¥0.30–0.50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Implementation risks and mitigations identified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17810EC-0260-F8DA-5AAE-82784865A6B5}"/>
              </a:ext>
            </a:extLst>
          </p:cNvPr>
          <p:cNvSpPr txBox="1"/>
          <p:nvPr/>
        </p:nvSpPr>
        <p:spPr>
          <a:xfrm>
            <a:off x="5401327" y="4445617"/>
            <a:ext cx="57123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Existing customers show relatively lower price sensitivity</a:t>
            </a:r>
            <a:endParaRPr kumimoji="1" lang="zh-CN" altLang="en-US" sz="1600" b="1" dirty="0"/>
          </a:p>
        </p:txBody>
      </p:sp>
      <p:sp>
        <p:nvSpPr>
          <p:cNvPr id="87" name="圆角矩形 86">
            <a:extLst>
              <a:ext uri="{FF2B5EF4-FFF2-40B4-BE49-F238E27FC236}">
                <a16:creationId xmlns:a16="http://schemas.microsoft.com/office/drawing/2014/main" id="{60904E53-D94C-507F-8CAF-55E868BA4139}"/>
              </a:ext>
            </a:extLst>
          </p:cNvPr>
          <p:cNvSpPr/>
          <p:nvPr/>
        </p:nvSpPr>
        <p:spPr>
          <a:xfrm>
            <a:off x="5139910" y="4473676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90C26054-AA2D-AD8B-BC84-E6DEC9B17FA7}"/>
              </a:ext>
            </a:extLst>
          </p:cNvPr>
          <p:cNvCxnSpPr>
            <a:cxnSpLocks/>
          </p:cNvCxnSpPr>
          <p:nvPr/>
        </p:nvCxnSpPr>
        <p:spPr>
          <a:xfrm>
            <a:off x="5139910" y="4756113"/>
            <a:ext cx="67085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EFCC0494-57AE-3F1D-B961-E866DE11BFD4}"/>
              </a:ext>
            </a:extLst>
          </p:cNvPr>
          <p:cNvSpPr/>
          <p:nvPr/>
        </p:nvSpPr>
        <p:spPr>
          <a:xfrm>
            <a:off x="345486" y="2472474"/>
            <a:ext cx="4093812" cy="16944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2414066"/>
      </p:ext>
    </p:extLst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asvg="http://schemas.microsoft.com/office/drawing/2016/SVG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New Slide</a:t>
            </a:r>
          </a:p>
        </p:txBody>
      </p:sp>
      <p:pic>
        <p:nvPicPr>
          <p:cNvPr id="10000" name="图形 60">
            <a:extLst xmlns:a="http://schemas.openxmlformats.org/drawingml/2006/main">
              <a:ext uri="{FF2B5EF4-FFF2-40B4-BE49-F238E27FC236}">
                <a16:creationId xmlns:a16="http://schemas.microsoft.com/office/drawing/2014/main" id="{CD67FE52-B21D-D467-FA8C-18471F8E33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>
            <a:extLst>
              <a:ext uri="{96DAC541-7B7A-43D3-8B79-37D633B846F1}">
                <asvg:svgBlip xmlns:asvg="http://schemas.microsoft.com/office/drawing/2016/SVG/main" xmlns:r="http://schemas.openxmlformats.org/officeDocument/2006/relationships" r:embed="R4708a209b2ba47fa"/>
              </a:ext>
            </a:extLst>
          </a:blip>
          <a:srcRect xmlns:a="http://schemas.openxmlformats.org/drawingml/2006/main"/>
          <a:stretch xmlns:a="http://schemas.openxmlformats.org/drawingml/2006/main"/>
        </p:blipFill>
        <p:spPr>
          <a:xfrm xmlns:a="http://schemas.openxmlformats.org/drawingml/2006/main">
            <a:off x="10888462" y="6534398"/>
            <a:ext cx="762838" cy="203586"/>
          </a:xfrm>
          <a:prstGeom xmlns:a="http://schemas.openxmlformats.org/drawingml/2006/main" prst="rect">
            <a:avLst/>
          </a:prstGeom>
        </p:spPr>
      </p:pic>
      <p:cxnSp>
        <p:nvCxnSpPr>
          <p:cNvPr id="10001" name="直线连接符 37">
            <a:extLst xmlns:a="http://schemas.openxmlformats.org/drawingml/2006/main">
              <a:ext uri="{FF2B5EF4-FFF2-40B4-BE49-F238E27FC236}">
                <a16:creationId xmlns:a16="http://schemas.microsoft.com/office/drawing/2014/main" id="{02F3A8E7-106F-591D-F7DE-2793A8B3EA7F}"/>
              </a:ext>
            </a:extLst>
          </p:cNvPr>
          <p:cNvCxnSpPr/>
          <p:nvPr/>
        </p:nvCxnSpPr>
        <p:spPr>
          <a:xfrm xmlns:a="http://schemas.openxmlformats.org/drawingml/2006/main" flipV="1">
            <a:off x="6153443" y="2759531"/>
            <a:ext cx="0" cy="265626"/>
          </a:xfrm>
          <a:prstGeom xmlns:a="http://schemas.openxmlformats.org/drawingml/2006/main" prst="line">
            <a:avLst/>
          </a:prstGeom>
          <a:ln xmlns:a="http://schemas.openxmlformats.org/drawingml/2006/main" w="31750" cap="sq">
            <a:solidFill>
              <a:schemeClr val="tx2"/>
            </a:solidFill>
            <a:miter lim="800000"/>
            <a:tailEnd w="sm" len="sm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0002" name="直线连接符 39">
            <a:extLst xmlns:a="http://schemas.openxmlformats.org/drawingml/2006/main">
              <a:ext uri="{FF2B5EF4-FFF2-40B4-BE49-F238E27FC236}">
                <a16:creationId xmlns:a16="http://schemas.microsoft.com/office/drawing/2014/main" id="{A2AA58F1-8C5F-12B1-E566-EF8BAB04F2C1}"/>
              </a:ext>
            </a:extLst>
          </p:cNvPr>
          <p:cNvCxnSpPr/>
          <p:nvPr/>
        </p:nvCxnSpPr>
        <p:spPr>
          <a:xfrm xmlns:a="http://schemas.openxmlformats.org/drawingml/2006/main">
            <a:off x="6153443" y="2759531"/>
            <a:ext cx="1140643" cy="0"/>
          </a:xfrm>
          <a:prstGeom xmlns:a="http://schemas.openxmlformats.org/drawingml/2006/main" prst="line">
            <a:avLst/>
          </a:prstGeom>
          <a:ln xmlns:a="http://schemas.openxmlformats.org/drawingml/2006/main" w="31750" cap="sq">
            <a:solidFill>
              <a:schemeClr val="tx2"/>
            </a:solidFill>
            <a:miter lim="800000"/>
            <a:tailEnd type="oval" w="sm" len="sm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0003" name="直线连接符 57">
            <a:extLst xmlns:a="http://schemas.openxmlformats.org/drawingml/2006/main">
              <a:ext uri="{FF2B5EF4-FFF2-40B4-BE49-F238E27FC236}">
                <a16:creationId xmlns:a16="http://schemas.microsoft.com/office/drawing/2014/main" id="{4CC9D08D-A330-065D-B982-D792D996573E}"/>
              </a:ext>
            </a:extLst>
          </p:cNvPr>
          <p:cNvCxnSpPr>
            <a:cxnSpLocks xmlns:a="http://schemas.openxmlformats.org/drawingml/2006/main"/>
          </p:cNvCxnSpPr>
          <p:nvPr/>
        </p:nvCxnSpPr>
        <p:spPr>
          <a:xfrm xmlns:a="http://schemas.openxmlformats.org/drawingml/2006/main">
            <a:off x="345486" y="872723"/>
            <a:ext cx="11501023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tx2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0004" name="直线连接符 78">
            <a:extLst xmlns:a="http://schemas.openxmlformats.org/drawingml/2006/main">
              <a:ext uri="{FF2B5EF4-FFF2-40B4-BE49-F238E27FC236}">
                <a16:creationId xmlns:a16="http://schemas.microsoft.com/office/drawing/2014/main" id="{7B9A5B20-BEFA-0ADD-2D2A-70ED7D6302C9}"/>
              </a:ext>
            </a:extLst>
          </p:cNvPr>
          <p:cNvCxnSpPr>
            <a:cxnSpLocks xmlns:a="http://schemas.openxmlformats.org/drawingml/2006/main"/>
          </p:cNvCxnSpPr>
          <p:nvPr/>
        </p:nvCxnSpPr>
        <p:spPr>
          <a:xfrm xmlns:a="http://schemas.openxmlformats.org/drawingml/2006/main">
            <a:off x="345486" y="2444416"/>
            <a:ext cx="4093812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tx2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0005" name="直线连接符 87">
            <a:extLst xmlns:a="http://schemas.openxmlformats.org/drawingml/2006/main">
              <a:ext uri="{FF2B5EF4-FFF2-40B4-BE49-F238E27FC236}">
                <a16:creationId xmlns:a16="http://schemas.microsoft.com/office/drawing/2014/main" id="{90C26054-AA2D-AD8B-BC84-E6DEC9B17FA7}"/>
              </a:ext>
            </a:extLst>
          </p:cNvPr>
          <p:cNvCxnSpPr>
            <a:cxnSpLocks xmlns:a="http://schemas.openxmlformats.org/drawingml/2006/main"/>
          </p:cNvCxnSpPr>
          <p:nvPr/>
        </p:nvCxnSpPr>
        <p:spPr>
          <a:xfrm xmlns:a="http://schemas.openxmlformats.org/drawingml/2006/main">
            <a:off x="5139910" y="4756113"/>
            <a:ext cx="6708559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tx2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0006" name="矩形 91">
            <a:extLst xmlns:a="http://schemas.openxmlformats.org/drawingml/2006/main">
              <a:ext uri="{FF2B5EF4-FFF2-40B4-BE49-F238E27FC236}">
                <a16:creationId xmlns:a16="http://schemas.microsoft.com/office/drawing/2014/main" id="{8867E2AE-94E7-1A73-6E90-690A565127A1}"/>
              </a:ext>
            </a:extLst>
          </p:cNvPr>
          <p:cNvSpPr/>
          <p:nvPr/>
        </p:nvSpPr>
        <p:spPr>
          <a:xfrm xmlns:a="http://schemas.openxmlformats.org/drawingml/2006/main">
            <a:off x="345486" y="2133920"/>
            <a:ext cx="4093812" cy="203574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ctr"/>
          <a:lstStyle xmlns:a="http://schemas.openxmlformats.org/drawingml/2006/main"/>
          <a:p xmlns:a="http://schemas.openxmlformats.org/drawingml/2006/main">
            <a:pPr algn="ctr"/>
            <a:endParaRPr kumimoji="1" lang="zh-CN" altLang="en-US"/>
          </a:p>
        </p:txBody>
      </p:sp>
      <p:sp>
        <p:nvSpPr>
          <p:cNvPr id="10007" name="圆角矩形 24">
            <a:extLst xmlns:a="http://schemas.openxmlformats.org/drawingml/2006/main">
              <a:ext uri="{FF2B5EF4-FFF2-40B4-BE49-F238E27FC236}">
                <a16:creationId xmlns:a16="http://schemas.microsoft.com/office/drawing/2014/main" id="{E397D437-4E52-D22D-6B27-72E8C793A13C}"/>
              </a:ext>
            </a:extLst>
          </p:cNvPr>
          <p:cNvSpPr/>
          <p:nvPr/>
        </p:nvSpPr>
        <p:spPr>
          <a:xfrm xmlns:a="http://schemas.openxmlformats.org/drawingml/2006/main">
            <a:off x="345489" y="1076700"/>
            <a:ext cx="2012699" cy="282437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ctr"/>
          <a:lstStyle xmlns:a="http://schemas.openxmlformats.org/drawingml/2006/main"/>
          <a:p xmlns:a="http://schemas.openxmlformats.org/drawingml/2006/main">
            <a:pPr algn="ctr"/>
            <a:r>
              <a:rPr kumimoji="1" lang="en-US" altLang="zh-CN" sz="1600" b="1" dirty="0"/>
              <a:t>Optimizing Returns</a:t>
            </a:r>
            <a:endParaRPr kumimoji="1" lang="zh-CN" altLang="en-US" sz="1600" b="1" dirty="0"/>
          </a:p>
        </p:txBody>
      </p:sp>
      <p:sp>
        <p:nvSpPr>
          <p:cNvPr id="10008" name="矩形 27">
            <a:extLst xmlns:a="http://schemas.openxmlformats.org/drawingml/2006/main">
              <a:ext uri="{FF2B5EF4-FFF2-40B4-BE49-F238E27FC236}">
                <a16:creationId xmlns:a16="http://schemas.microsoft.com/office/drawing/2014/main" id="{79E0164F-8AEF-E13C-5944-82136D1891B0}"/>
              </a:ext>
            </a:extLst>
          </p:cNvPr>
          <p:cNvSpPr/>
          <p:nvPr/>
        </p:nvSpPr>
        <p:spPr>
          <a:xfrm xmlns:a="http://schemas.openxmlformats.org/drawingml/2006/main">
            <a:off x="345488" y="1356860"/>
            <a:ext cx="11501023" cy="61253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ctr"/>
          <a:lstStyle xmlns:a="http://schemas.openxmlformats.org/drawingml/2006/main"/>
          <a:p xmlns:a="http://schemas.openxmlformats.org/drawingml/2006/main">
            <a:pPr algn="just"/>
            <a:r>
              <a:rPr kumimoji="1" lang="en-US" altLang="zh-CN" sz="1400" dirty="0">
                <a:solidFill>
                  <a:schemeClr val="tx1"/>
                </a:solidFill>
              </a:rPr>
              <a:t>Retrofit merchant projects to stabilize cash flows while expanding EE’s global BESS network in high-return markets. Convert German standalone tolling projects to boost equity growth. Optimized portfolio equity allocations were achieved using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Mixed-Integer Linear Programming.</a:t>
            </a:r>
          </a:p>
        </p:txBody>
      </p:sp>
      <p:sp>
        <p:nvSpPr>
          <p:cNvPr id="10009" name="圆角矩形 61">
            <a:extLst xmlns:a="http://schemas.openxmlformats.org/drawingml/2006/main">
              <a:ext uri="{FF2B5EF4-FFF2-40B4-BE49-F238E27FC236}">
                <a16:creationId xmlns:a16="http://schemas.microsoft.com/office/drawing/2014/main" id="{E69AE45E-1DE2-4DAB-7FF4-44303F245327}"/>
              </a:ext>
            </a:extLst>
          </p:cNvPr>
          <p:cNvSpPr/>
          <p:nvPr/>
        </p:nvSpPr>
        <p:spPr>
          <a:xfrm xmlns:a="http://schemas.openxmlformats.org/drawingml/2006/main">
            <a:off x="345485" y="4332458"/>
            <a:ext cx="4093811" cy="282437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9050">
            <a:solidFill>
              <a:schemeClr val="bg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ctr"/>
          <a:lstStyle xmlns:a="http://schemas.openxmlformats.org/drawingml/2006/main"/>
          <a:p xmlns:a="http://schemas.openxmlformats.org/drawingml/2006/main"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Key Priorities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10010" name="矩形 84">
            <a:extLst xmlns:a="http://schemas.openxmlformats.org/drawingml/2006/main">
              <a:ext uri="{FF2B5EF4-FFF2-40B4-BE49-F238E27FC236}">
                <a16:creationId xmlns:a16="http://schemas.microsoft.com/office/drawing/2014/main" id="{746FE38C-0400-C837-CAC2-BBFE1F7867E4}"/>
              </a:ext>
            </a:extLst>
          </p:cNvPr>
          <p:cNvSpPr/>
          <p:nvPr/>
        </p:nvSpPr>
        <p:spPr>
          <a:xfrm xmlns:a="http://schemas.openxmlformats.org/drawingml/2006/main">
            <a:off x="5137950" y="4993701"/>
            <a:ext cx="6708559" cy="88547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ctr"/>
          <a:lstStyle xmlns:a="http://schemas.openxmlformats.org/drawingml/2006/main"/>
          <a:p xmlns:a="http://schemas.openxmlformats.org/drawingml/2006/main">
            <a:pPr algn="just"/>
            <a:r>
              <a:rPr kumimoji="1" lang="en-US" altLang="zh-CN" sz="1400" b="1" dirty="0">
                <a:solidFill>
                  <a:schemeClr val="tx1"/>
                </a:solidFill>
              </a:rPr>
              <a:t>Genki Forest is suggested to raise ex-factory price by CN¥0.25–0.30 per bottle</a:t>
            </a:r>
          </a:p>
          <a:p xmlns:a="http://schemas.openxmlformats.org/drawingml/2006/main"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Terminal price could raise CN¥0.30–0.50 per bottle</a:t>
            </a:r>
          </a:p>
          <a:p xmlns:a="http://schemas.openxmlformats.org/drawingml/2006/main"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Potential risk and mitigation exist in implementation</a:t>
            </a:r>
          </a:p>
        </p:txBody>
      </p:sp>
      <p:sp>
        <p:nvSpPr>
          <p:cNvPr id="10011" name="矩形 92">
            <a:extLst xmlns:a="http://schemas.openxmlformats.org/drawingml/2006/main">
              <a:ext uri="{FF2B5EF4-FFF2-40B4-BE49-F238E27FC236}">
                <a16:creationId xmlns:a16="http://schemas.microsoft.com/office/drawing/2014/main" id="{EFCC0494-57AE-3F1D-B961-E866DE11BFD4}"/>
              </a:ext>
            </a:extLst>
          </p:cNvPr>
          <p:cNvSpPr/>
          <p:nvPr/>
        </p:nvSpPr>
        <p:spPr>
          <a:xfrm xmlns:a="http://schemas.openxmlformats.org/drawingml/2006/main">
            <a:off x="345486" y="2472474"/>
            <a:ext cx="4093812" cy="1694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t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 xmlns:a="http://schemas.openxmlformats.org/drawingml/2006/main"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Close the value gap between high-output and low-revenue markets through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 xmlns:a="http://schemas.openxmlformats.org/drawingml/2006/main"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 xmlns:a="http://schemas.openxmlformats.org/drawingml/2006/main"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0012" name="圆角矩形 76">
            <a:extLst xmlns:a="http://schemas.openxmlformats.org/drawingml/2006/main">
              <a:ext uri="{FF2B5EF4-FFF2-40B4-BE49-F238E27FC236}">
                <a16:creationId xmlns:a16="http://schemas.microsoft.com/office/drawing/2014/main" id="{BFAE422C-1765-50D1-BEB2-2C81DA15E6BC}"/>
              </a:ext>
            </a:extLst>
          </p:cNvPr>
          <p:cNvSpPr/>
          <p:nvPr/>
        </p:nvSpPr>
        <p:spPr>
          <a:xfrm xmlns:a="http://schemas.openxmlformats.org/drawingml/2006/main">
            <a:off x="345486" y="2161979"/>
            <a:ext cx="261417" cy="282437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ctr"/>
          <a:lstStyle xmlns:a="http://schemas.openxmlformats.org/drawingml/2006/main"/>
          <a:p xmlns:a="http://schemas.openxmlformats.org/drawingml/2006/main"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sp>
        <p:nvSpPr>
          <p:cNvPr id="10013" name="圆角矩形 86">
            <a:extLst xmlns:a="http://schemas.openxmlformats.org/drawingml/2006/main">
              <a:ext uri="{FF2B5EF4-FFF2-40B4-BE49-F238E27FC236}">
                <a16:creationId xmlns:a16="http://schemas.microsoft.com/office/drawing/2014/main" id="{60904E53-D94C-507F-8CAF-55E868BA4139}"/>
              </a:ext>
            </a:extLst>
          </p:cNvPr>
          <p:cNvSpPr/>
          <p:nvPr/>
        </p:nvSpPr>
        <p:spPr>
          <a:xfrm xmlns:a="http://schemas.openxmlformats.org/drawingml/2006/main">
            <a:off x="5139910" y="4473676"/>
            <a:ext cx="261417" cy="282437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tlCol="0" anchor="ctr"/>
          <a:lstStyle xmlns:a="http://schemas.openxmlformats.org/drawingml/2006/main"/>
          <a:p xmlns:a="http://schemas.openxmlformats.org/drawingml/2006/main"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Office 主题​​">
  <a:themeElements>
    <a:clrScheme name="自定义 7">
      <a:dk1>
        <a:srgbClr val="131312"/>
      </a:dk1>
      <a:lt1>
        <a:srgbClr val="FFFFFF"/>
      </a:lt1>
      <a:dk2>
        <a:srgbClr val="CC0000"/>
      </a:dk2>
      <a:lt2>
        <a:srgbClr val="FFEEEE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91DE601F-B7A8-924F-B134-54C42D7F4152}">
  <we:reference id="wa200005566" version="3.0.0.2" store="zh-CN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944C907-A97A-BB44-B28C-C528CE1366E1}">
  <we:reference id="wa104381909" version="3.14.0.0" store="en-US" storeType="OMEX"/>
  <we:alternateReferences>
    <we:reference id="WA104381909" version="3.14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339</TotalTime>
  <Words>193</Words>
  <Application>Microsoft Macintosh PowerPoint</Application>
  <PresentationFormat>宽屏</PresentationFormat>
  <Paragraphs>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Tse</dc:creator>
  <cp:lastModifiedBy>Alex Tse</cp:lastModifiedBy>
  <cp:revision>2</cp:revision>
  <dcterms:created xsi:type="dcterms:W3CDTF">2026-04-22T14:08:10Z</dcterms:created>
  <dcterms:modified xsi:type="dcterms:W3CDTF">2026-04-23T05:49:05Z</dcterms:modified>
</cp:coreProperties>
</file>