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6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98"/>
    <p:restoredTop sz="94670"/>
  </p:normalViewPr>
  <p:slideViewPr>
    <p:cSldViewPr snapToGrid="0">
      <p:cViewPr>
        <p:scale>
          <a:sx n="121" d="100"/>
          <a:sy n="121" d="100"/>
        </p:scale>
        <p:origin x="35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49796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69705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125075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25185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091354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22110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765155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6433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59686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8694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7189219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56C2ED-54A4-480D-B5C8-65C0D62359B9}" type="datetime2">
              <a:rPr lang="en-US" smtClean="0"/>
              <a:pPr/>
              <a:t>Thursday, April 23,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spc="200"/>
              <a:t>Sample Footer Text</a:t>
            </a:r>
            <a:endParaRPr lang="en-US" spc="2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309695-DEC3-40DA-9DF5-330280C9D0E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4961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矩形 91">
            <a:extLst>
              <a:ext uri="{FF2B5EF4-FFF2-40B4-BE49-F238E27FC236}">
                <a16:creationId xmlns:a16="http://schemas.microsoft.com/office/drawing/2014/main" id="{8867E2AE-94E7-1A73-6E90-690A565127A1}"/>
              </a:ext>
            </a:extLst>
          </p:cNvPr>
          <p:cNvSpPr/>
          <p:nvPr/>
        </p:nvSpPr>
        <p:spPr>
          <a:xfrm>
            <a:off x="345486" y="2133920"/>
            <a:ext cx="4093812" cy="20357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DB9CA48A-455E-EAA4-A5E3-A646AC47B8F4}"/>
              </a:ext>
            </a:extLst>
          </p:cNvPr>
          <p:cNvSpPr txBox="1"/>
          <p:nvPr/>
        </p:nvSpPr>
        <p:spPr>
          <a:xfrm>
            <a:off x="606903" y="2133920"/>
            <a:ext cx="14109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Key Priorities</a:t>
            </a:r>
            <a:endParaRPr kumimoji="1" lang="zh-CN" altLang="en-US" sz="1600" b="1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84108D-D9E5-2FFA-EABB-0B4A6E95160C}"/>
              </a:ext>
            </a:extLst>
          </p:cNvPr>
          <p:cNvSpPr txBox="1"/>
          <p:nvPr/>
        </p:nvSpPr>
        <p:spPr>
          <a:xfrm>
            <a:off x="244988" y="92571"/>
            <a:ext cx="10063933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kumimoji="1" lang="en-US" altLang="zh-CN" sz="2000" b="1" dirty="0">
                <a:latin typeface="Aptos" panose="020B0004020202020204" pitchFamily="34" charset="0"/>
                <a:ea typeface="Palatino" pitchFamily="2" charset="0"/>
                <a:cs typeface="Mongolian Baiti" panose="03000500000000000000" pitchFamily="66" charset="0"/>
              </a:rPr>
              <a:t>Exclusive Summary: grow Fruit Co. by store expansion with supply chain optimization, product diversification, and purchasing experience management</a:t>
            </a:r>
          </a:p>
        </p:txBody>
      </p:sp>
      <p:sp>
        <p:nvSpPr>
          <p:cNvPr id="25" name="圆角矩形 24">
            <a:extLst>
              <a:ext uri="{FF2B5EF4-FFF2-40B4-BE49-F238E27FC236}">
                <a16:creationId xmlns:a16="http://schemas.microsoft.com/office/drawing/2014/main" id="{E397D437-4E52-D22D-6B27-72E8C793A13C}"/>
              </a:ext>
            </a:extLst>
          </p:cNvPr>
          <p:cNvSpPr/>
          <p:nvPr/>
        </p:nvSpPr>
        <p:spPr>
          <a:xfrm>
            <a:off x="345489" y="1076700"/>
            <a:ext cx="2012699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Optimizing Returns</a:t>
            </a:r>
            <a:endParaRPr kumimoji="1" lang="zh-CN" altLang="en-US" sz="1600" b="1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9E0164F-8AEF-E13C-5944-82136D1891B0}"/>
              </a:ext>
            </a:extLst>
          </p:cNvPr>
          <p:cNvSpPr/>
          <p:nvPr/>
        </p:nvSpPr>
        <p:spPr>
          <a:xfrm>
            <a:off x="345488" y="1356860"/>
            <a:ext cx="11501023" cy="6125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zh-CN" sz="1400" dirty="0">
                <a:solidFill>
                  <a:schemeClr val="tx1"/>
                </a:solidFill>
              </a:rPr>
              <a:t>Retrofit merchant projects to stabilize cash flows while expanding EE’s global BESS network in high-return markets. Convert German standalone tolling projects to boost equity growth. Optimized portfolio equity allocations were achieved using </a:t>
            </a:r>
            <a:r>
              <a:rPr kumimoji="1" lang="en-US" altLang="zh-CN" sz="1400" b="1" dirty="0">
                <a:solidFill>
                  <a:schemeClr val="tx1"/>
                </a:solidFill>
              </a:rPr>
              <a:t>Mixed-Integer Linear Programming.</a:t>
            </a:r>
          </a:p>
        </p:txBody>
      </p:sp>
      <p:cxnSp>
        <p:nvCxnSpPr>
          <p:cNvPr id="38" name="直线连接符 37">
            <a:extLst>
              <a:ext uri="{FF2B5EF4-FFF2-40B4-BE49-F238E27FC236}">
                <a16:creationId xmlns:a16="http://schemas.microsoft.com/office/drawing/2014/main" id="{02F3A8E7-106F-591D-F7DE-2793A8B3EA7F}"/>
              </a:ext>
            </a:extLst>
          </p:cNvPr>
          <p:cNvCxnSpPr/>
          <p:nvPr/>
        </p:nvCxnSpPr>
        <p:spPr>
          <a:xfrm flipV="1">
            <a:off x="6153443" y="2759531"/>
            <a:ext cx="0" cy="265626"/>
          </a:xfrm>
          <a:prstGeom prst="line">
            <a:avLst/>
          </a:prstGeom>
          <a:ln w="31750" cap="sq">
            <a:solidFill>
              <a:schemeClr val="tx2"/>
            </a:solidFill>
            <a:miter lim="800000"/>
            <a:tailEnd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线连接符 39">
            <a:extLst>
              <a:ext uri="{FF2B5EF4-FFF2-40B4-BE49-F238E27FC236}">
                <a16:creationId xmlns:a16="http://schemas.microsoft.com/office/drawing/2014/main" id="{A2AA58F1-8C5F-12B1-E566-EF8BAB04F2C1}"/>
              </a:ext>
            </a:extLst>
          </p:cNvPr>
          <p:cNvCxnSpPr/>
          <p:nvPr/>
        </p:nvCxnSpPr>
        <p:spPr>
          <a:xfrm>
            <a:off x="6153443" y="2759531"/>
            <a:ext cx="1140643" cy="0"/>
          </a:xfrm>
          <a:prstGeom prst="line">
            <a:avLst/>
          </a:prstGeom>
          <a:ln w="31750" cap="sq">
            <a:solidFill>
              <a:schemeClr val="tx2"/>
            </a:solidFill>
            <a:miter lim="800000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46B1B25C-4B10-DFA5-113C-8B8F249419B4}"/>
              </a:ext>
            </a:extLst>
          </p:cNvPr>
          <p:cNvSpPr txBox="1"/>
          <p:nvPr/>
        </p:nvSpPr>
        <p:spPr>
          <a:xfrm>
            <a:off x="7398837" y="2587180"/>
            <a:ext cx="24510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600" b="1" dirty="0">
                <a:solidFill>
                  <a:schemeClr val="tx2"/>
                </a:solidFill>
              </a:rPr>
              <a:t>Lithuania – €37.1M Y1 </a:t>
            </a:r>
            <a:endParaRPr lang="zh-CN" altLang="en-US" sz="1600" dirty="0">
              <a:solidFill>
                <a:schemeClr val="tx2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D990F21-74EB-8B63-9610-E9B956354BE9}"/>
              </a:ext>
            </a:extLst>
          </p:cNvPr>
          <p:cNvSpPr txBox="1"/>
          <p:nvPr/>
        </p:nvSpPr>
        <p:spPr>
          <a:xfrm>
            <a:off x="7398837" y="2887389"/>
            <a:ext cx="38861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/>
              <a:t>Use short development cycles to adapt swiftly to rapidly evolving battery technology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/>
              <a:t>Reduce costs with 30% of CAPEX grants</a:t>
            </a:r>
            <a:endParaRPr kumimoji="1" lang="zh-CN" altLang="en-US" sz="1400" dirty="0"/>
          </a:p>
        </p:txBody>
      </p:sp>
      <p:cxnSp>
        <p:nvCxnSpPr>
          <p:cNvPr id="58" name="直线连接符 57">
            <a:extLst>
              <a:ext uri="{FF2B5EF4-FFF2-40B4-BE49-F238E27FC236}">
                <a16:creationId xmlns:a16="http://schemas.microsoft.com/office/drawing/2014/main" id="{4CC9D08D-A330-065D-B982-D792D996573E}"/>
              </a:ext>
            </a:extLst>
          </p:cNvPr>
          <p:cNvCxnSpPr>
            <a:cxnSpLocks/>
          </p:cNvCxnSpPr>
          <p:nvPr/>
        </p:nvCxnSpPr>
        <p:spPr>
          <a:xfrm>
            <a:off x="345486" y="872723"/>
            <a:ext cx="1150102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图形 60">
            <a:extLst>
              <a:ext uri="{FF2B5EF4-FFF2-40B4-BE49-F238E27FC236}">
                <a16:creationId xmlns:a16="http://schemas.microsoft.com/office/drawing/2014/main" id="{CD67FE52-B21D-D467-FA8C-18471F8E3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88462" y="6534398"/>
            <a:ext cx="762838" cy="203586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B90A9678-3626-3D04-0741-C4A91C87FC69}"/>
              </a:ext>
            </a:extLst>
          </p:cNvPr>
          <p:cNvSpPr/>
          <p:nvPr/>
        </p:nvSpPr>
        <p:spPr>
          <a:xfrm>
            <a:off x="345486" y="4614895"/>
            <a:ext cx="4093812" cy="1694464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Long-Term Value Creation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Close the value gap between high-output and low-revenue markets through full-chain control</a:t>
            </a:r>
            <a:endParaRPr kumimoji="1" lang="en-US" altLang="zh-CN" sz="14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Capital Recycling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Anchor BESS growth in high-capability markets for reliable expansion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A45F7AD-496A-66BB-C4E3-0CA4FF918069}"/>
              </a:ext>
            </a:extLst>
          </p:cNvPr>
          <p:cNvSpPr txBox="1"/>
          <p:nvPr/>
        </p:nvSpPr>
        <p:spPr>
          <a:xfrm>
            <a:off x="297118" y="6510854"/>
            <a:ext cx="2856038" cy="276999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Source: expert call, lit research, analysis</a:t>
            </a:r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圆角矩形 61">
            <a:extLst>
              <a:ext uri="{FF2B5EF4-FFF2-40B4-BE49-F238E27FC236}">
                <a16:creationId xmlns:a16="http://schemas.microsoft.com/office/drawing/2014/main" id="{E69AE45E-1DE2-4DAB-7FF4-44303F245327}"/>
              </a:ext>
            </a:extLst>
          </p:cNvPr>
          <p:cNvSpPr/>
          <p:nvPr/>
        </p:nvSpPr>
        <p:spPr>
          <a:xfrm>
            <a:off x="345485" y="4332458"/>
            <a:ext cx="4093811" cy="282437"/>
          </a:xfrm>
          <a:prstGeom prst="roundRect">
            <a:avLst>
              <a:gd name="adj" fmla="val 0"/>
            </a:avLst>
          </a:prstGeom>
          <a:solidFill>
            <a:schemeClr val="bg2"/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>
                <a:solidFill>
                  <a:schemeClr val="tx2"/>
                </a:solidFill>
              </a:rPr>
              <a:t>Key Priorities</a:t>
            </a:r>
            <a:endParaRPr kumimoji="1" lang="zh-CN" altLang="en-US" sz="1600" b="1" dirty="0">
              <a:solidFill>
                <a:schemeClr val="tx2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11C5D88F-A049-9DE9-9395-9B6691D6E825}"/>
              </a:ext>
            </a:extLst>
          </p:cNvPr>
          <p:cNvSpPr txBox="1"/>
          <p:nvPr/>
        </p:nvSpPr>
        <p:spPr>
          <a:xfrm>
            <a:off x="11150825" y="6480075"/>
            <a:ext cx="824276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fld id="{C6A1A2BA-6D83-C443-9823-3CD30E13C10E}" type="slidenum">
              <a:rPr kumimoji="1" lang="zh-CN" altLang="en-US" sz="14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fld>
            <a:endParaRPr kumimoji="1" lang="zh-CN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7" name="圆角矩形 76">
            <a:extLst>
              <a:ext uri="{FF2B5EF4-FFF2-40B4-BE49-F238E27FC236}">
                <a16:creationId xmlns:a16="http://schemas.microsoft.com/office/drawing/2014/main" id="{BFAE422C-1765-50D1-BEB2-2C81DA15E6BC}"/>
              </a:ext>
            </a:extLst>
          </p:cNvPr>
          <p:cNvSpPr/>
          <p:nvPr/>
        </p:nvSpPr>
        <p:spPr>
          <a:xfrm>
            <a:off x="345486" y="2161979"/>
            <a:ext cx="261417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1</a:t>
            </a:r>
            <a:endParaRPr kumimoji="1" lang="zh-CN" altLang="en-US" sz="1600" b="1" dirty="0"/>
          </a:p>
        </p:txBody>
      </p:sp>
      <p:cxnSp>
        <p:nvCxnSpPr>
          <p:cNvPr id="79" name="直线连接符 78">
            <a:extLst>
              <a:ext uri="{FF2B5EF4-FFF2-40B4-BE49-F238E27FC236}">
                <a16:creationId xmlns:a16="http://schemas.microsoft.com/office/drawing/2014/main" id="{7B9A5B20-BEFA-0ADD-2D2A-70ED7D6302C9}"/>
              </a:ext>
            </a:extLst>
          </p:cNvPr>
          <p:cNvCxnSpPr>
            <a:cxnSpLocks/>
          </p:cNvCxnSpPr>
          <p:nvPr/>
        </p:nvCxnSpPr>
        <p:spPr>
          <a:xfrm>
            <a:off x="345486" y="2444416"/>
            <a:ext cx="4093812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矩形 84">
            <a:extLst>
              <a:ext uri="{FF2B5EF4-FFF2-40B4-BE49-F238E27FC236}">
                <a16:creationId xmlns:a16="http://schemas.microsoft.com/office/drawing/2014/main" id="{746FE38C-0400-C837-CAC2-BBFE1F7867E4}"/>
              </a:ext>
            </a:extLst>
          </p:cNvPr>
          <p:cNvSpPr/>
          <p:nvPr/>
        </p:nvSpPr>
        <p:spPr>
          <a:xfrm>
            <a:off x="5137950" y="4993701"/>
            <a:ext cx="6708559" cy="88547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zh-CN" sz="1400" b="1" dirty="0">
                <a:solidFill>
                  <a:schemeClr val="tx1"/>
                </a:solidFill>
              </a:rPr>
              <a:t>Genki Forest is suggested to raise ex-factory price by CN¥0.25–0.30 per bottle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Terminal price could raise CN¥0.30–0.50 per bottle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Potential risk and mitigation exist in implementation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17810EC-0260-F8DA-5AAE-82784865A6B5}"/>
              </a:ext>
            </a:extLst>
          </p:cNvPr>
          <p:cNvSpPr txBox="1"/>
          <p:nvPr/>
        </p:nvSpPr>
        <p:spPr>
          <a:xfrm>
            <a:off x="5401327" y="4445617"/>
            <a:ext cx="57123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/>
              <a:t>Original customer base has relatively lower price sensitivity</a:t>
            </a:r>
            <a:endParaRPr kumimoji="1" lang="zh-CN" altLang="en-US" sz="1600" b="1" dirty="0"/>
          </a:p>
        </p:txBody>
      </p:sp>
      <p:sp>
        <p:nvSpPr>
          <p:cNvPr id="87" name="圆角矩形 86">
            <a:extLst>
              <a:ext uri="{FF2B5EF4-FFF2-40B4-BE49-F238E27FC236}">
                <a16:creationId xmlns:a16="http://schemas.microsoft.com/office/drawing/2014/main" id="{60904E53-D94C-507F-8CAF-55E868BA4139}"/>
              </a:ext>
            </a:extLst>
          </p:cNvPr>
          <p:cNvSpPr/>
          <p:nvPr/>
        </p:nvSpPr>
        <p:spPr>
          <a:xfrm>
            <a:off x="5139910" y="4473676"/>
            <a:ext cx="261417" cy="282437"/>
          </a:xfrm>
          <a:prstGeom prst="roundRect">
            <a:avLst>
              <a:gd name="adj" fmla="val 0"/>
            </a:avLst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600" b="1" dirty="0"/>
              <a:t>3</a:t>
            </a:r>
            <a:endParaRPr kumimoji="1" lang="zh-CN" altLang="en-US" sz="1600" b="1" dirty="0"/>
          </a:p>
        </p:txBody>
      </p:sp>
      <p:cxnSp>
        <p:nvCxnSpPr>
          <p:cNvPr id="88" name="直线连接符 87">
            <a:extLst>
              <a:ext uri="{FF2B5EF4-FFF2-40B4-BE49-F238E27FC236}">
                <a16:creationId xmlns:a16="http://schemas.microsoft.com/office/drawing/2014/main" id="{90C26054-AA2D-AD8B-BC84-E6DEC9B17FA7}"/>
              </a:ext>
            </a:extLst>
          </p:cNvPr>
          <p:cNvCxnSpPr>
            <a:cxnSpLocks/>
          </p:cNvCxnSpPr>
          <p:nvPr/>
        </p:nvCxnSpPr>
        <p:spPr>
          <a:xfrm>
            <a:off x="5139910" y="4756113"/>
            <a:ext cx="6708559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EFCC0494-57AE-3F1D-B961-E866DE11BFD4}"/>
              </a:ext>
            </a:extLst>
          </p:cNvPr>
          <p:cNvSpPr/>
          <p:nvPr/>
        </p:nvSpPr>
        <p:spPr>
          <a:xfrm>
            <a:off x="345486" y="2472474"/>
            <a:ext cx="4093812" cy="16944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Long-Term Value Creation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Close the value gap between high-output and low-revenue markets through full-chain control</a:t>
            </a:r>
            <a:endParaRPr kumimoji="1" lang="en-US" altLang="zh-CN" sz="1400" b="1" dirty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tx1"/>
                </a:solidFill>
              </a:rPr>
              <a:t>Capital Recycling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CN" sz="1400" dirty="0">
                <a:solidFill>
                  <a:schemeClr val="tx1"/>
                </a:solidFill>
              </a:rPr>
              <a:t>Anchor BESS growth in high-capability markets for reliable expansion</a:t>
            </a:r>
            <a:endParaRPr kumimoji="1" lang="en-US" altLang="zh-CN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2414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自定义 7">
      <a:dk1>
        <a:srgbClr val="131312"/>
      </a:dk1>
      <a:lt1>
        <a:srgbClr val="FFFFFF"/>
      </a:lt1>
      <a:dk2>
        <a:srgbClr val="CC0000"/>
      </a:dk2>
      <a:lt2>
        <a:srgbClr val="FFEEEE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91DE601F-B7A8-924F-B134-54C42D7F4152}">
  <we:reference id="wa200005566" version="3.0.0.2" store="zh-CN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D944C907-A97A-BB44-B28C-C528CE1366E1}">
  <we:reference id="wa104381909" version="3.14.0.0" store="en-US" storeType="OMEX"/>
  <we:alternateReferences>
    <we:reference id="WA104381909" version="3.14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339</TotalTime>
  <Words>193</Words>
  <Application>Microsoft Macintosh PowerPoint</Application>
  <PresentationFormat>宽屏</PresentationFormat>
  <Paragraphs>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Tse</dc:creator>
  <cp:lastModifiedBy>Alex Tse</cp:lastModifiedBy>
  <cp:revision>2</cp:revision>
  <dcterms:created xsi:type="dcterms:W3CDTF">2026-04-22T14:08:10Z</dcterms:created>
  <dcterms:modified xsi:type="dcterms:W3CDTF">2026-04-23T05:49:05Z</dcterms:modified>
</cp:coreProperties>
</file>